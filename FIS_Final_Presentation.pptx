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Hi, I'm presenting the final output of our FIS Global industry project. The project sets out to understand how UK customer behaviour in banking and payments has shifted over the last 25 years, and to translate those structural shifts into a 10-year forecast for FIS. Over the next 10 minutes I'll walk through: why this matters to FIS, the data and methods we used, what we found historically, where the inflection points were, where we expect things to go to 2034, and how sensitive those forecasts are to our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The brief from FIS was deliberately open. They wanted an evidence-based view of how UK customer behaviour has shifted, and a credible projection of where it's going. We translated that into three concrete objectives: first, map the historical change — quantify the decline of physical banking against digital growth. Second, explain the drivers — smartphones, regulation, COVID-19, macro conditions. And third, build forecasts to 2034 with transparent assumptions and sensitivity testing, which is what FIS specifically requested in their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Why does this matter to FIS specifically? Three numbers tell the story. UK bank branches have dropped 70% since 2000. The correlation between branch counts and digital payment volume is minus 0.98 — almost perfectly inverse. And card-present fraud is down 91% since chip and PIN, which sounds like good news. The strategic point is on the right: the fraud hasn't disappeared, it's relocated. Card-Not-Present, remote, and online vectors are now the priority. That's where FIS's investment in real-time detection and digital identity becomes the strategic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Before getting into our results, three brief anchors from the literature. First, Vives shows the post-2008 branch contraction is structural rather than cyclical — that frames our interpretation of the trend. Second, Disney and Gathergood support our use of an ARDL specification for deposits, since rate environments materially shape savings behaviour. And third, the BIS and UK Finance both document the COVID step-change in cash substitution that didn't revert — which is why 2020 is so important in our inflection-point analysis. These three anchors inform our methodology choices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On the left, the eight datasets — all from authoritative sources: Bank of England, UK Finance, ONS, Pay.UK and the LINK Scheme. Time horizons vary; the longest are infrastructure and macro variables back to 2000, while payment-method-level data only goes back to 2014. On the right, the analytical pipeline. We cleaned and harmonised everything to annual frequency, ran exploratory analysis and correlations, fitted an OLS for the macro relationships, then moved to parameter-light forecasting and sensitivity analysis. The choice at the bottom is the key methodological one: with only around 10 clean observations per emerging-payment variable after removing COVID, heavily-parameterised ARIMA models would just fit the noise. Instead we use functional forms — floored exponential, Gompertz S-curves, Bass diffusion, and ARDL — which are interpretable and constrained by scientific priors.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This is the headline picture of UK payment behaviour over the past decade. The dark line at the top of the chart is cash — collapsing from 18.2 billion transactions in 2014 to 4.4 billion in 2024, a 76% drop. Debit card volumes nearly doubled. But the most dramatic line is the dashed green one — contactless — which grew eight-fold from 2.3 to 18.9 billion. Faster payments also rose substantially. The story isn't that payment activity grew overall — total transactions are roughly stable. The composition has fundamentally changed. Every transaction that used to be made in cash is now being made on a digital 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Four inflection points define the period. 2008 — the financial crisis triggered a wave of branch consolidation that hasn't stopped. 2015 — contactless adoption inflected, growing 170% year-on-year as the £30 limit took effect. 2020 — the COVID step-change. Cash fell 51% in a single year, and crucially the behavioural shift did not revert. Even with shops fully reopened, the public didn't go back to cash. And 2022 — the rate-rise cycle that drove the deposit balance surge we saw in section 5 of our analysis. These four events are the structural turning points that any credible forecast has to account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These are our three headline forecasts for 2034 in the base scenario. Cash hits a structural floor of around 2.6 billion transactions a year — not zero, because financial-inclusion regulations and cash-back use cases mean cash never fully disappears, just settles into a small minority of transactions. We model this with a floored exponential decline. Mobile wallets reach 85% of UK adults — modelled with a Bass diffusion curve calibrated to mature-market saturation parameters. And neobanks hit 49% share of primary current accounts via a Fisher-Pry substitution model. The two charts show the cash decline on the left — note the historical fit catches the trend even through COVID — and the mobile-wallet S-curve on the right, where the slope is steepest right now and we're projected to enter saturation around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The FIS brief specifically asked us to list assumptions and explain sensitivity. This tornado chart does both. Each bar is one parameter; the length shows how much the 2034 forecast moves when that parameter goes from its low to its high value. Two findings dominate. The neobank ceiling — where we assume the market saturates — swings the neobank forecast by ±29%. The cash floor — the structural minimum cash level — swings cash by ±26%. Everything else is below 20%. We also ran a Monte Carlo simulation perturbing all assumptions simultaneously, and the headline numbers stay within their 80% intervals — so the central case is robust, but FIS should be aware that those two parameters dominate the forecast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So what should FIS do with this? Four strategic implications. First, prioritise remote-vector security. CNP fraud is the dominant attack surface; real-time detection is where the strategic investment should go. Second, build for digital-first. By 2034, account journeys should assume zero branch interaction by default. Third, neobank infrastructure becomes half the market. FIS's core-banking and compliance products need first-class support for fintech architectures. And fourth, mobile wallets become the default rail at 85% adult penetration — tokenisation, pass credentials, and the wallet-as-identity story are where FIS should be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Quickly on delivery. We ran the project as a seven-sprint structure across three months, shown on the timeline at the top. Three things worth noting. Engagement with FIS was continuous — we had a kickoff with Andrew Thompson, Jeffrey Saul and Jay Desai in February, a findings discussion in March, a mid-project review in April, and shared refined data in May. On project management, we used a sprint structure with async work and scheduled syncs, plus an in-person integration day in late April when the modular work needed merging. And critically — we changed direction when the data demanded it. We dropped ARIMA early because the sample sizes wouldn't support it, and we added sensitivity testing explicitly because the FIS brief required it. The scope went from 10 datasets to 8 after the first mentor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To close — three numbers that capture the project. 70% — the loss of physical branches that defined the past 25 years. 2.6 billion — where cash settles by 2034 in our base scenario. 49% — neobank market share, signalling that half of UK current accounts will sit outside the traditional banks by the end of our forecast horizon. Code and the full forecast pipeline are on GitHub at the link shown.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834"/>
        </a:solidFill>
      </p:bgPr>
    </p:bg>
    <p:spTree>
      <p:nvGrpSpPr>
        <p:cNvPr id="1" name=""/>
        <p:cNvGrpSpPr/>
        <p:nvPr/>
      </p:nvGrpSpPr>
      <p:grpSpPr>
        <a:xfrm>
          <a:off x="0" y="0"/>
          <a:ext cx="0" cy="0"/>
          <a:chOff x="0" y="0"/>
          <a:chExt cx="0" cy="0"/>
        </a:xfrm>
      </p:grpSpPr>
      <p:sp>
        <p:nvSpPr>
          <p:cNvPr id="2" name="Shape 0"/>
          <p:cNvSpPr/>
          <p:nvPr/>
        </p:nvSpPr>
        <p:spPr>
          <a:xfrm>
            <a:off x="548640" y="2331720"/>
            <a:ext cx="1371600" cy="91440"/>
          </a:xfrm>
          <a:prstGeom prst="rect">
            <a:avLst/>
          </a:prstGeom>
          <a:solidFill>
            <a:srgbClr val="4BCD3E"/>
          </a:solidFill>
          <a:ln w="12700">
            <a:solidFill>
              <a:srgbClr val="4BCD3E"/>
            </a:solidFill>
            <a:prstDash val="solid"/>
          </a:ln>
        </p:spPr>
      </p:sp>
      <p:sp>
        <p:nvSpPr>
          <p:cNvPr id="3" name="Text 1"/>
          <p:cNvSpPr/>
          <p:nvPr/>
        </p:nvSpPr>
        <p:spPr>
          <a:xfrm>
            <a:off x="548640" y="246888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Customer Trends in</a:t>
            </a:r>
            <a:endParaRPr lang="en-US" sz="4400" dirty="0"/>
          </a:p>
        </p:txBody>
      </p:sp>
      <p:sp>
        <p:nvSpPr>
          <p:cNvPr id="4" name="Text 2"/>
          <p:cNvSpPr/>
          <p:nvPr/>
        </p:nvSpPr>
        <p:spPr>
          <a:xfrm>
            <a:off x="548640" y="3246120"/>
            <a:ext cx="10972800" cy="822960"/>
          </a:xfrm>
          <a:prstGeom prst="rect">
            <a:avLst/>
          </a:prstGeom>
          <a:noFill/>
          <a:ln/>
        </p:spPr>
        <p:txBody>
          <a:bodyPr wrap="square" lIns="0" tIns="0" rIns="0" bIns="0" rtlCol="0" anchor="ctr"/>
          <a:lstStyle/>
          <a:p>
            <a:pPr indent="0" marL="0">
              <a:buNone/>
            </a:pPr>
            <a:r>
              <a:rPr lang="en-US" sz="4400" b="1" dirty="0">
                <a:solidFill>
                  <a:srgbClr val="4BCD3E"/>
                </a:solidFill>
                <a:latin typeface="Calibri" pitchFamily="34" charset="0"/>
                <a:ea typeface="Calibri" pitchFamily="34" charset="-122"/>
                <a:cs typeface="Calibri" pitchFamily="34" charset="-120"/>
              </a:rPr>
              <a:t>Banking and Payments</a:t>
            </a:r>
            <a:endParaRPr lang="en-US" sz="4400" dirty="0"/>
          </a:p>
        </p:txBody>
      </p:sp>
      <p:sp>
        <p:nvSpPr>
          <p:cNvPr id="5" name="Text 3"/>
          <p:cNvSpPr/>
          <p:nvPr/>
        </p:nvSpPr>
        <p:spPr>
          <a:xfrm>
            <a:off x="548640" y="4160520"/>
            <a:ext cx="10972800" cy="457200"/>
          </a:xfrm>
          <a:prstGeom prst="rect">
            <a:avLst/>
          </a:prstGeom>
          <a:noFill/>
          <a:ln/>
        </p:spPr>
        <p:txBody>
          <a:bodyPr wrap="square" lIns="0" tIns="0" rIns="0" bIns="0"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25 years of behaviour, 10 years of forecasts</a:t>
            </a:r>
            <a:endParaRPr lang="en-US" sz="1800" dirty="0"/>
          </a:p>
        </p:txBody>
      </p:sp>
      <p:sp>
        <p:nvSpPr>
          <p:cNvPr id="6" name="Text 4"/>
          <p:cNvSpPr/>
          <p:nvPr/>
        </p:nvSpPr>
        <p:spPr>
          <a:xfrm>
            <a:off x="548640" y="5943600"/>
            <a:ext cx="10972800" cy="365760"/>
          </a:xfrm>
          <a:prstGeom prst="rect">
            <a:avLst/>
          </a:prstGeom>
          <a:noFill/>
          <a:ln/>
        </p:spPr>
        <p:txBody>
          <a:bodyPr wrap="square" lIns="0" tIns="0" rIns="0" bIns="0" rtlCol="0" anchor="ctr"/>
          <a:lstStyle/>
          <a:p>
            <a:pPr indent="0" marL="0">
              <a:buNone/>
            </a:pPr>
            <a:r>
              <a:rPr lang="en-US" sz="1200" dirty="0">
                <a:solidFill>
                  <a:srgbClr val="B8C5C9"/>
                </a:solidFill>
                <a:latin typeface="Calibri" pitchFamily="34" charset="0"/>
                <a:ea typeface="Calibri" pitchFamily="34" charset="-122"/>
                <a:cs typeface="Calibri" pitchFamily="34" charset="-120"/>
              </a:rPr>
              <a:t>Industry partner: FIS Global   ·   </a:t>
            </a:r>
            <a:pPr indent="0" marL="0">
              <a:buNone/>
            </a:pPr>
            <a:r>
              <a:rPr lang="en-US" sz="1200" dirty="0">
                <a:solidFill>
                  <a:srgbClr val="B8C5C9"/>
                </a:solidFill>
                <a:latin typeface="Calibri" pitchFamily="34" charset="0"/>
                <a:ea typeface="Calibri" pitchFamily="34" charset="-122"/>
                <a:cs typeface="Calibri" pitchFamily="34" charset="-120"/>
              </a:rPr>
              <a:t>MSc Applied Data Science, University of Manchester,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202692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2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Project aim</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What FIS asked us to deliver</a:t>
            </a:r>
            <a:endParaRPr lang="en-US" sz="1300" dirty="0"/>
          </a:p>
        </p:txBody>
      </p:sp>
      <p:sp>
        <p:nvSpPr>
          <p:cNvPr id="9" name="Shape 7"/>
          <p:cNvSpPr/>
          <p:nvPr/>
        </p:nvSpPr>
        <p:spPr>
          <a:xfrm>
            <a:off x="502920" y="1463040"/>
            <a:ext cx="11155680" cy="1280160"/>
          </a:xfrm>
          <a:prstGeom prst="rect">
            <a:avLst/>
          </a:prstGeom>
          <a:solidFill>
            <a:srgbClr val="F9F5F1"/>
          </a:solidFill>
          <a:ln w="12700">
            <a:solidFill>
              <a:srgbClr val="F9F5F1"/>
            </a:solidFill>
            <a:prstDash val="solid"/>
          </a:ln>
        </p:spPr>
      </p:sp>
      <p:sp>
        <p:nvSpPr>
          <p:cNvPr id="10" name="Shape 8"/>
          <p:cNvSpPr/>
          <p:nvPr/>
        </p:nvSpPr>
        <p:spPr>
          <a:xfrm>
            <a:off x="502920" y="1463040"/>
            <a:ext cx="91440" cy="1280160"/>
          </a:xfrm>
          <a:prstGeom prst="rect">
            <a:avLst/>
          </a:prstGeom>
          <a:solidFill>
            <a:srgbClr val="4BCD3E"/>
          </a:solidFill>
          <a:ln w="12700">
            <a:solidFill>
              <a:srgbClr val="4BCD3E"/>
            </a:solidFill>
            <a:prstDash val="solid"/>
          </a:ln>
        </p:spPr>
      </p:sp>
      <p:sp>
        <p:nvSpPr>
          <p:cNvPr id="11" name="Text 9"/>
          <p:cNvSpPr/>
          <p:nvPr/>
        </p:nvSpPr>
        <p:spPr>
          <a:xfrm>
            <a:off x="868680" y="1554480"/>
            <a:ext cx="10515600" cy="1097280"/>
          </a:xfrm>
          <a:prstGeom prst="rect">
            <a:avLst/>
          </a:prstGeom>
          <a:noFill/>
          <a:ln/>
        </p:spPr>
        <p:txBody>
          <a:bodyPr wrap="square" lIns="0" tIns="0" rIns="0" bIns="0" rtlCol="0" anchor="ctr"/>
          <a:lstStyle/>
          <a:p>
            <a:pPr indent="0" marL="0">
              <a:buNone/>
            </a:pPr>
            <a:r>
              <a:rPr lang="en-US" sz="1800" i="1" dirty="0">
                <a:solidFill>
                  <a:srgbClr val="012834"/>
                </a:solidFill>
                <a:latin typeface="Calibri" pitchFamily="34" charset="0"/>
                <a:ea typeface="Calibri" pitchFamily="34" charset="-122"/>
                <a:cs typeface="Calibri" pitchFamily="34" charset="-120"/>
              </a:rPr>
              <a:t>Assess customer trends in banking and payments over the last 25 years, and use those trends to project the next decade of behaviour.</a:t>
            </a:r>
            <a:endParaRPr lang="en-US" sz="1800" dirty="0"/>
          </a:p>
        </p:txBody>
      </p:sp>
      <p:sp>
        <p:nvSpPr>
          <p:cNvPr id="12" name="Shape 10"/>
          <p:cNvSpPr/>
          <p:nvPr/>
        </p:nvSpPr>
        <p:spPr>
          <a:xfrm>
            <a:off x="502920" y="3108960"/>
            <a:ext cx="3611880" cy="2194560"/>
          </a:xfrm>
          <a:prstGeom prst="rect">
            <a:avLst/>
          </a:prstGeom>
          <a:solidFill>
            <a:srgbClr val="FFFFFF"/>
          </a:solidFill>
          <a:ln w="9525">
            <a:solidFill>
              <a:srgbClr val="D6D6D6"/>
            </a:solidFill>
            <a:prstDash val="solid"/>
          </a:ln>
        </p:spPr>
      </p:sp>
      <p:sp>
        <p:nvSpPr>
          <p:cNvPr id="13" name="Shape 11"/>
          <p:cNvSpPr/>
          <p:nvPr/>
        </p:nvSpPr>
        <p:spPr>
          <a:xfrm>
            <a:off x="502920" y="3108960"/>
            <a:ext cx="3611880" cy="73152"/>
          </a:xfrm>
          <a:prstGeom prst="rect">
            <a:avLst/>
          </a:prstGeom>
          <a:solidFill>
            <a:srgbClr val="4BCD3E"/>
          </a:solidFill>
          <a:ln w="12700">
            <a:solidFill>
              <a:srgbClr val="4BCD3E"/>
            </a:solidFill>
            <a:prstDash val="solid"/>
          </a:ln>
        </p:spPr>
      </p:sp>
      <p:sp>
        <p:nvSpPr>
          <p:cNvPr id="14" name="Text 12"/>
          <p:cNvSpPr/>
          <p:nvPr/>
        </p:nvSpPr>
        <p:spPr>
          <a:xfrm>
            <a:off x="731520" y="3246120"/>
            <a:ext cx="914400" cy="457200"/>
          </a:xfrm>
          <a:prstGeom prst="rect">
            <a:avLst/>
          </a:prstGeom>
          <a:noFill/>
          <a:ln/>
        </p:spPr>
        <p:txBody>
          <a:bodyPr wrap="square" lIns="0" tIns="0" rIns="0" bIns="0" rtlCol="0" anchor="ctr"/>
          <a:lstStyle/>
          <a:p>
            <a:pPr indent="0" marL="0">
              <a:buNone/>
            </a:pPr>
            <a:r>
              <a:rPr lang="en-US" sz="2800" b="1" dirty="0">
                <a:solidFill>
                  <a:srgbClr val="4BCD3E"/>
                </a:solidFill>
                <a:latin typeface="Calibri" pitchFamily="34" charset="0"/>
                <a:ea typeface="Calibri" pitchFamily="34" charset="-122"/>
                <a:cs typeface="Calibri" pitchFamily="34" charset="-120"/>
              </a:rPr>
              <a:t>01</a:t>
            </a:r>
            <a:endParaRPr lang="en-US" sz="2800" dirty="0"/>
          </a:p>
        </p:txBody>
      </p:sp>
      <p:sp>
        <p:nvSpPr>
          <p:cNvPr id="15" name="Text 13"/>
          <p:cNvSpPr/>
          <p:nvPr/>
        </p:nvSpPr>
        <p:spPr>
          <a:xfrm>
            <a:off x="731520" y="3794760"/>
            <a:ext cx="3154680" cy="45720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Historical mapping</a:t>
            </a:r>
            <a:endParaRPr lang="en-US" sz="1600" dirty="0"/>
          </a:p>
        </p:txBody>
      </p:sp>
      <p:sp>
        <p:nvSpPr>
          <p:cNvPr id="16" name="Text 14"/>
          <p:cNvSpPr/>
          <p:nvPr/>
        </p:nvSpPr>
        <p:spPr>
          <a:xfrm>
            <a:off x="731520" y="4297680"/>
            <a:ext cx="3154680" cy="91440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Quantify the decline of physical infrastructure against the growth of digital channels.</a:t>
            </a:r>
            <a:endParaRPr lang="en-US" sz="1200" dirty="0"/>
          </a:p>
        </p:txBody>
      </p:sp>
      <p:sp>
        <p:nvSpPr>
          <p:cNvPr id="17" name="Shape 15"/>
          <p:cNvSpPr/>
          <p:nvPr/>
        </p:nvSpPr>
        <p:spPr>
          <a:xfrm>
            <a:off x="4279392" y="3108960"/>
            <a:ext cx="3611880" cy="2194560"/>
          </a:xfrm>
          <a:prstGeom prst="rect">
            <a:avLst/>
          </a:prstGeom>
          <a:solidFill>
            <a:srgbClr val="FFFFFF"/>
          </a:solidFill>
          <a:ln w="9525">
            <a:solidFill>
              <a:srgbClr val="D6D6D6"/>
            </a:solidFill>
            <a:prstDash val="solid"/>
          </a:ln>
        </p:spPr>
      </p:sp>
      <p:sp>
        <p:nvSpPr>
          <p:cNvPr id="18" name="Shape 16"/>
          <p:cNvSpPr/>
          <p:nvPr/>
        </p:nvSpPr>
        <p:spPr>
          <a:xfrm>
            <a:off x="4279392" y="3108960"/>
            <a:ext cx="3611880" cy="73152"/>
          </a:xfrm>
          <a:prstGeom prst="rect">
            <a:avLst/>
          </a:prstGeom>
          <a:solidFill>
            <a:srgbClr val="4BCD3E"/>
          </a:solidFill>
          <a:ln w="12700">
            <a:solidFill>
              <a:srgbClr val="4BCD3E"/>
            </a:solidFill>
            <a:prstDash val="solid"/>
          </a:ln>
        </p:spPr>
      </p:sp>
      <p:sp>
        <p:nvSpPr>
          <p:cNvPr id="19" name="Text 17"/>
          <p:cNvSpPr/>
          <p:nvPr/>
        </p:nvSpPr>
        <p:spPr>
          <a:xfrm>
            <a:off x="4507992" y="3246120"/>
            <a:ext cx="914400" cy="457200"/>
          </a:xfrm>
          <a:prstGeom prst="rect">
            <a:avLst/>
          </a:prstGeom>
          <a:noFill/>
          <a:ln/>
        </p:spPr>
        <p:txBody>
          <a:bodyPr wrap="square" lIns="0" tIns="0" rIns="0" bIns="0" rtlCol="0" anchor="ctr"/>
          <a:lstStyle/>
          <a:p>
            <a:pPr indent="0" marL="0">
              <a:buNone/>
            </a:pPr>
            <a:r>
              <a:rPr lang="en-US" sz="2800" b="1" dirty="0">
                <a:solidFill>
                  <a:srgbClr val="4BCD3E"/>
                </a:solidFill>
                <a:latin typeface="Calibri" pitchFamily="34" charset="0"/>
                <a:ea typeface="Calibri" pitchFamily="34" charset="-122"/>
                <a:cs typeface="Calibri" pitchFamily="34" charset="-120"/>
              </a:rPr>
              <a:t>02</a:t>
            </a:r>
            <a:endParaRPr lang="en-US" sz="2800" dirty="0"/>
          </a:p>
        </p:txBody>
      </p:sp>
      <p:sp>
        <p:nvSpPr>
          <p:cNvPr id="20" name="Text 18"/>
          <p:cNvSpPr/>
          <p:nvPr/>
        </p:nvSpPr>
        <p:spPr>
          <a:xfrm>
            <a:off x="4507992" y="3794760"/>
            <a:ext cx="3154680" cy="45720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Driver analysis</a:t>
            </a:r>
            <a:endParaRPr lang="en-US" sz="1600" dirty="0"/>
          </a:p>
        </p:txBody>
      </p:sp>
      <p:sp>
        <p:nvSpPr>
          <p:cNvPr id="21" name="Text 19"/>
          <p:cNvSpPr/>
          <p:nvPr/>
        </p:nvSpPr>
        <p:spPr>
          <a:xfrm>
            <a:off x="4507992" y="4297680"/>
            <a:ext cx="3154680" cy="91440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Connect behavioural change to smartphones, regulation, COVID, and macro shocks.</a:t>
            </a:r>
            <a:endParaRPr lang="en-US" sz="1200" dirty="0"/>
          </a:p>
        </p:txBody>
      </p:sp>
      <p:sp>
        <p:nvSpPr>
          <p:cNvPr id="22" name="Shape 20"/>
          <p:cNvSpPr/>
          <p:nvPr/>
        </p:nvSpPr>
        <p:spPr>
          <a:xfrm>
            <a:off x="8055864" y="3108960"/>
            <a:ext cx="3611880" cy="2194560"/>
          </a:xfrm>
          <a:prstGeom prst="rect">
            <a:avLst/>
          </a:prstGeom>
          <a:solidFill>
            <a:srgbClr val="FFFFFF"/>
          </a:solidFill>
          <a:ln w="9525">
            <a:solidFill>
              <a:srgbClr val="D6D6D6"/>
            </a:solidFill>
            <a:prstDash val="solid"/>
          </a:ln>
        </p:spPr>
      </p:sp>
      <p:sp>
        <p:nvSpPr>
          <p:cNvPr id="23" name="Shape 21"/>
          <p:cNvSpPr/>
          <p:nvPr/>
        </p:nvSpPr>
        <p:spPr>
          <a:xfrm>
            <a:off x="8055864" y="3108960"/>
            <a:ext cx="3611880" cy="73152"/>
          </a:xfrm>
          <a:prstGeom prst="rect">
            <a:avLst/>
          </a:prstGeom>
          <a:solidFill>
            <a:srgbClr val="4BCD3E"/>
          </a:solidFill>
          <a:ln w="12700">
            <a:solidFill>
              <a:srgbClr val="4BCD3E"/>
            </a:solidFill>
            <a:prstDash val="solid"/>
          </a:ln>
        </p:spPr>
      </p:sp>
      <p:sp>
        <p:nvSpPr>
          <p:cNvPr id="24" name="Text 22"/>
          <p:cNvSpPr/>
          <p:nvPr/>
        </p:nvSpPr>
        <p:spPr>
          <a:xfrm>
            <a:off x="8284464" y="3246120"/>
            <a:ext cx="914400" cy="457200"/>
          </a:xfrm>
          <a:prstGeom prst="rect">
            <a:avLst/>
          </a:prstGeom>
          <a:noFill/>
          <a:ln/>
        </p:spPr>
        <p:txBody>
          <a:bodyPr wrap="square" lIns="0" tIns="0" rIns="0" bIns="0" rtlCol="0" anchor="ctr"/>
          <a:lstStyle/>
          <a:p>
            <a:pPr indent="0" marL="0">
              <a:buNone/>
            </a:pPr>
            <a:r>
              <a:rPr lang="en-US" sz="2800" b="1" dirty="0">
                <a:solidFill>
                  <a:srgbClr val="4BCD3E"/>
                </a:solidFill>
                <a:latin typeface="Calibri" pitchFamily="34" charset="0"/>
                <a:ea typeface="Calibri" pitchFamily="34" charset="-122"/>
                <a:cs typeface="Calibri" pitchFamily="34" charset="-120"/>
              </a:rPr>
              <a:t>03</a:t>
            </a:r>
            <a:endParaRPr lang="en-US" sz="2800" dirty="0"/>
          </a:p>
        </p:txBody>
      </p:sp>
      <p:sp>
        <p:nvSpPr>
          <p:cNvPr id="25" name="Text 23"/>
          <p:cNvSpPr/>
          <p:nvPr/>
        </p:nvSpPr>
        <p:spPr>
          <a:xfrm>
            <a:off x="8284464" y="3794760"/>
            <a:ext cx="3154680" cy="45720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Future modelling</a:t>
            </a:r>
            <a:endParaRPr lang="en-US" sz="1600" dirty="0"/>
          </a:p>
        </p:txBody>
      </p:sp>
      <p:sp>
        <p:nvSpPr>
          <p:cNvPr id="26" name="Text 24"/>
          <p:cNvSpPr/>
          <p:nvPr/>
        </p:nvSpPr>
        <p:spPr>
          <a:xfrm>
            <a:off x="8284464" y="4297680"/>
            <a:ext cx="3154680" cy="91440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Build scenario forecasts to 2034 with stated assumptions and sensitivity analysis.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304038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3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Why this matters to FIS</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From physical-vector security to remote-vector security</a:t>
            </a:r>
            <a:endParaRPr lang="en-US" sz="1300" dirty="0"/>
          </a:p>
        </p:txBody>
      </p:sp>
      <p:sp>
        <p:nvSpPr>
          <p:cNvPr id="9" name="Text 7"/>
          <p:cNvSpPr/>
          <p:nvPr/>
        </p:nvSpPr>
        <p:spPr>
          <a:xfrm>
            <a:off x="502920" y="1554480"/>
            <a:ext cx="1828800" cy="822960"/>
          </a:xfrm>
          <a:prstGeom prst="rect">
            <a:avLst/>
          </a:prstGeom>
          <a:noFill/>
          <a:ln/>
        </p:spPr>
        <p:txBody>
          <a:bodyPr wrap="square" lIns="0" tIns="0" rIns="0" bIns="0" rtlCol="0" anchor="ctr"/>
          <a:lstStyle/>
          <a:p>
            <a:pPr indent="0" marL="0">
              <a:buNone/>
            </a:pPr>
            <a:r>
              <a:rPr lang="en-US" sz="4400" b="1" dirty="0">
                <a:solidFill>
                  <a:srgbClr val="4BCD3E"/>
                </a:solidFill>
                <a:latin typeface="Calibri" pitchFamily="34" charset="0"/>
                <a:ea typeface="Calibri" pitchFamily="34" charset="-122"/>
                <a:cs typeface="Calibri" pitchFamily="34" charset="-120"/>
              </a:rPr>
              <a:t>70%</a:t>
            </a:r>
            <a:endParaRPr lang="en-US" sz="4400" dirty="0"/>
          </a:p>
        </p:txBody>
      </p:sp>
      <p:sp>
        <p:nvSpPr>
          <p:cNvPr id="10" name="Text 8"/>
          <p:cNvSpPr/>
          <p:nvPr/>
        </p:nvSpPr>
        <p:spPr>
          <a:xfrm>
            <a:off x="2331720" y="1664208"/>
            <a:ext cx="3520440" cy="109728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decline in UK bank branches since 2000</a:t>
            </a:r>
            <a:endParaRPr lang="en-US" sz="1300" dirty="0"/>
          </a:p>
        </p:txBody>
      </p:sp>
      <p:sp>
        <p:nvSpPr>
          <p:cNvPr id="11" name="Text 9"/>
          <p:cNvSpPr/>
          <p:nvPr/>
        </p:nvSpPr>
        <p:spPr>
          <a:xfrm>
            <a:off x="502920" y="2971800"/>
            <a:ext cx="1828800" cy="822960"/>
          </a:xfrm>
          <a:prstGeom prst="rect">
            <a:avLst/>
          </a:prstGeom>
          <a:noFill/>
          <a:ln/>
        </p:spPr>
        <p:txBody>
          <a:bodyPr wrap="square" lIns="0" tIns="0" rIns="0" bIns="0" rtlCol="0" anchor="ctr"/>
          <a:lstStyle/>
          <a:p>
            <a:pPr indent="0" marL="0">
              <a:buNone/>
            </a:pPr>
            <a:r>
              <a:rPr lang="en-US" sz="4400" b="1" dirty="0">
                <a:solidFill>
                  <a:srgbClr val="4BCD3E"/>
                </a:solidFill>
                <a:latin typeface="Calibri" pitchFamily="34" charset="0"/>
                <a:ea typeface="Calibri" pitchFamily="34" charset="-122"/>
                <a:cs typeface="Calibri" pitchFamily="34" charset="-120"/>
              </a:rPr>
              <a:t>0.98</a:t>
            </a:r>
            <a:endParaRPr lang="en-US" sz="4400" dirty="0"/>
          </a:p>
        </p:txBody>
      </p:sp>
      <p:sp>
        <p:nvSpPr>
          <p:cNvPr id="12" name="Text 10"/>
          <p:cNvSpPr/>
          <p:nvPr/>
        </p:nvSpPr>
        <p:spPr>
          <a:xfrm>
            <a:off x="2331720" y="3081528"/>
            <a:ext cx="3520440" cy="109728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negative correlation, branches vs digital payments</a:t>
            </a:r>
            <a:endParaRPr lang="en-US" sz="1300" dirty="0"/>
          </a:p>
        </p:txBody>
      </p:sp>
      <p:sp>
        <p:nvSpPr>
          <p:cNvPr id="13" name="Text 11"/>
          <p:cNvSpPr/>
          <p:nvPr/>
        </p:nvSpPr>
        <p:spPr>
          <a:xfrm>
            <a:off x="502920" y="4389120"/>
            <a:ext cx="1828800" cy="822960"/>
          </a:xfrm>
          <a:prstGeom prst="rect">
            <a:avLst/>
          </a:prstGeom>
          <a:noFill/>
          <a:ln/>
        </p:spPr>
        <p:txBody>
          <a:bodyPr wrap="square" lIns="0" tIns="0" rIns="0" bIns="0" rtlCol="0" anchor="ctr"/>
          <a:lstStyle/>
          <a:p>
            <a:pPr indent="0" marL="0">
              <a:buNone/>
            </a:pPr>
            <a:r>
              <a:rPr lang="en-US" sz="4400" b="1" dirty="0">
                <a:solidFill>
                  <a:srgbClr val="4BCD3E"/>
                </a:solidFill>
                <a:latin typeface="Calibri" pitchFamily="34" charset="0"/>
                <a:ea typeface="Calibri" pitchFamily="34" charset="-122"/>
                <a:cs typeface="Calibri" pitchFamily="34" charset="-120"/>
              </a:rPr>
              <a:t>91%</a:t>
            </a:r>
            <a:endParaRPr lang="en-US" sz="4400" dirty="0"/>
          </a:p>
        </p:txBody>
      </p:sp>
      <p:sp>
        <p:nvSpPr>
          <p:cNvPr id="14" name="Text 12"/>
          <p:cNvSpPr/>
          <p:nvPr/>
        </p:nvSpPr>
        <p:spPr>
          <a:xfrm>
            <a:off x="2331720" y="4498848"/>
            <a:ext cx="3520440" cy="109728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fall in counterfeit-card fraud as criminals shift remote</a:t>
            </a:r>
            <a:endParaRPr lang="en-US" sz="1300" dirty="0"/>
          </a:p>
        </p:txBody>
      </p:sp>
      <p:sp>
        <p:nvSpPr>
          <p:cNvPr id="15" name="Shape 13"/>
          <p:cNvSpPr/>
          <p:nvPr/>
        </p:nvSpPr>
        <p:spPr>
          <a:xfrm>
            <a:off x="6172200" y="1554480"/>
            <a:ext cx="5349240" cy="4297680"/>
          </a:xfrm>
          <a:prstGeom prst="rect">
            <a:avLst/>
          </a:prstGeom>
          <a:solidFill>
            <a:srgbClr val="012834"/>
          </a:solidFill>
          <a:ln w="12700">
            <a:solidFill>
              <a:srgbClr val="012834"/>
            </a:solidFill>
            <a:prstDash val="solid"/>
          </a:ln>
        </p:spPr>
      </p:sp>
      <p:sp>
        <p:nvSpPr>
          <p:cNvPr id="16" name="Text 14"/>
          <p:cNvSpPr/>
          <p:nvPr/>
        </p:nvSpPr>
        <p:spPr>
          <a:xfrm>
            <a:off x="6537960" y="1874520"/>
            <a:ext cx="4617720" cy="457200"/>
          </a:xfrm>
          <a:prstGeom prst="rect">
            <a:avLst/>
          </a:prstGeom>
          <a:noFill/>
          <a:ln/>
        </p:spPr>
        <p:txBody>
          <a:bodyPr wrap="square" lIns="0" tIns="0" rIns="0" bIns="0" rtlCol="0" anchor="ctr"/>
          <a:lstStyle/>
          <a:p>
            <a:pPr indent="0" marL="0">
              <a:buNone/>
            </a:pPr>
            <a:r>
              <a:rPr lang="en-US" sz="1600" b="1" dirty="0">
                <a:solidFill>
                  <a:srgbClr val="4BCD3E"/>
                </a:solidFill>
                <a:latin typeface="Calibri" pitchFamily="34" charset="0"/>
                <a:ea typeface="Calibri" pitchFamily="34" charset="-122"/>
                <a:cs typeface="Calibri" pitchFamily="34" charset="-120"/>
              </a:rPr>
              <a:t>The strategic implication</a:t>
            </a:r>
            <a:endParaRPr lang="en-US" sz="1600" dirty="0"/>
          </a:p>
        </p:txBody>
      </p:sp>
      <p:sp>
        <p:nvSpPr>
          <p:cNvPr id="17" name="Text 15"/>
          <p:cNvSpPr/>
          <p:nvPr/>
        </p:nvSpPr>
        <p:spPr>
          <a:xfrm>
            <a:off x="6537960" y="2468880"/>
            <a:ext cx="4617720" cy="31089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UK customer behaviour has fundamentally restructured </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from physical channels to digital-first ecosystems.</a:t>
            </a: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For FIS this means the threat surface is moving too: card-present fraud is solved, but </a:t>
            </a:r>
            <a:pPr indent="0" marL="0">
              <a:buNone/>
            </a:pPr>
            <a:r>
              <a:rPr lang="en-US" sz="1400" b="1" dirty="0">
                <a:solidFill>
                  <a:srgbClr val="4BCD3E"/>
                </a:solidFill>
                <a:latin typeface="Calibri" pitchFamily="34" charset="0"/>
                <a:ea typeface="Calibri" pitchFamily="34" charset="-122"/>
                <a:cs typeface="Calibri" pitchFamily="34" charset="-120"/>
              </a:rPr>
              <a:t>Card-Not-Present and remote vectors are now the priority</a:t>
            </a:r>
            <a:pPr indent="0" marL="0">
              <a:buNone/>
            </a:pPr>
            <a:r>
              <a:rPr lang="en-US" sz="1400" dirty="0">
                <a:solidFill>
                  <a:srgbClr val="FFFFFF"/>
                </a:solidFill>
                <a:latin typeface="Calibri" pitchFamily="34" charset="0"/>
                <a:ea typeface="Calibri" pitchFamily="34" charset="-122"/>
                <a:cs typeface="Calibri" pitchFamily="34" charset="-120"/>
              </a:rPr>
              <a:t>. Real-time fraud detection and digital identity infrastructure are where the strategic premium sits.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405384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4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Scientific and practice context</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Grounding the work in existing literature</a:t>
            </a:r>
            <a:endParaRPr lang="en-US" sz="1300" dirty="0"/>
          </a:p>
        </p:txBody>
      </p:sp>
      <p:sp>
        <p:nvSpPr>
          <p:cNvPr id="9" name="Shape 7"/>
          <p:cNvSpPr/>
          <p:nvPr/>
        </p:nvSpPr>
        <p:spPr>
          <a:xfrm>
            <a:off x="502920" y="1645920"/>
            <a:ext cx="640080" cy="640080"/>
          </a:xfrm>
          <a:prstGeom prst="ellipse">
            <a:avLst/>
          </a:prstGeom>
          <a:solidFill>
            <a:srgbClr val="4BCD3E"/>
          </a:solidFill>
          <a:ln w="12700">
            <a:solidFill>
              <a:srgbClr val="4BCD3E"/>
            </a:solidFill>
            <a:prstDash val="solid"/>
          </a:ln>
        </p:spPr>
      </p:sp>
      <p:sp>
        <p:nvSpPr>
          <p:cNvPr id="10" name="Text 8"/>
          <p:cNvSpPr/>
          <p:nvPr/>
        </p:nvSpPr>
        <p:spPr>
          <a:xfrm>
            <a:off x="50292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1" name="Text 9"/>
          <p:cNvSpPr/>
          <p:nvPr/>
        </p:nvSpPr>
        <p:spPr>
          <a:xfrm>
            <a:off x="1371600" y="1600200"/>
            <a:ext cx="10058400" cy="45720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Branch consolidation is structural</a:t>
            </a:r>
            <a:endParaRPr lang="en-US" sz="1600" dirty="0"/>
          </a:p>
        </p:txBody>
      </p:sp>
      <p:sp>
        <p:nvSpPr>
          <p:cNvPr id="12" name="Text 10"/>
          <p:cNvSpPr/>
          <p:nvPr/>
        </p:nvSpPr>
        <p:spPr>
          <a:xfrm>
            <a:off x="1371600" y="2057400"/>
            <a:ext cx="10058400" cy="9144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Vives (2019) shows the post-2008 contraction of physical infrastructure is driven by cost pressure plus changing customer channel preferences — not a temporary cycle.</a:t>
            </a:r>
            <a:endParaRPr lang="en-US" sz="1300" dirty="0"/>
          </a:p>
        </p:txBody>
      </p:sp>
      <p:sp>
        <p:nvSpPr>
          <p:cNvPr id="13" name="Shape 11"/>
          <p:cNvSpPr/>
          <p:nvPr/>
        </p:nvSpPr>
        <p:spPr>
          <a:xfrm>
            <a:off x="502920" y="3136392"/>
            <a:ext cx="640080" cy="640080"/>
          </a:xfrm>
          <a:prstGeom prst="ellipse">
            <a:avLst/>
          </a:prstGeom>
          <a:solidFill>
            <a:srgbClr val="4BCD3E"/>
          </a:solidFill>
          <a:ln w="12700">
            <a:solidFill>
              <a:srgbClr val="4BCD3E"/>
            </a:solidFill>
            <a:prstDash val="solid"/>
          </a:ln>
        </p:spPr>
      </p:sp>
      <p:sp>
        <p:nvSpPr>
          <p:cNvPr id="14" name="Text 12"/>
          <p:cNvSpPr/>
          <p:nvPr/>
        </p:nvSpPr>
        <p:spPr>
          <a:xfrm>
            <a:off x="502920" y="313639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1371600" y="3090672"/>
            <a:ext cx="10058400" cy="45720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Macro rates shape savings behaviour</a:t>
            </a:r>
            <a:endParaRPr lang="en-US" sz="1600" dirty="0"/>
          </a:p>
        </p:txBody>
      </p:sp>
      <p:sp>
        <p:nvSpPr>
          <p:cNvPr id="16" name="Text 14"/>
          <p:cNvSpPr/>
          <p:nvPr/>
        </p:nvSpPr>
        <p:spPr>
          <a:xfrm>
            <a:off x="1371600" y="3547872"/>
            <a:ext cx="10058400" cy="9144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Disney &amp; Gathergood (2013) find rate environments materially affect household deposit and credit composition; relevant to our ARDL specification for deposits.</a:t>
            </a:r>
            <a:endParaRPr lang="en-US" sz="1300" dirty="0"/>
          </a:p>
        </p:txBody>
      </p:sp>
      <p:sp>
        <p:nvSpPr>
          <p:cNvPr id="17" name="Shape 15"/>
          <p:cNvSpPr/>
          <p:nvPr/>
        </p:nvSpPr>
        <p:spPr>
          <a:xfrm>
            <a:off x="502920" y="4626864"/>
            <a:ext cx="640080" cy="640080"/>
          </a:xfrm>
          <a:prstGeom prst="ellipse">
            <a:avLst/>
          </a:prstGeom>
          <a:solidFill>
            <a:srgbClr val="4BCD3E"/>
          </a:solidFill>
          <a:ln w="12700">
            <a:solidFill>
              <a:srgbClr val="4BCD3E"/>
            </a:solidFill>
            <a:prstDash val="solid"/>
          </a:ln>
        </p:spPr>
      </p:sp>
      <p:sp>
        <p:nvSpPr>
          <p:cNvPr id="18" name="Text 16"/>
          <p:cNvSpPr/>
          <p:nvPr/>
        </p:nvSpPr>
        <p:spPr>
          <a:xfrm>
            <a:off x="502920" y="4626864"/>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1371600" y="4581144"/>
            <a:ext cx="10058400" cy="45720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COVID accelerated digital substitution</a:t>
            </a:r>
            <a:endParaRPr lang="en-US" sz="1600" dirty="0"/>
          </a:p>
        </p:txBody>
      </p:sp>
      <p:sp>
        <p:nvSpPr>
          <p:cNvPr id="20" name="Text 18"/>
          <p:cNvSpPr/>
          <p:nvPr/>
        </p:nvSpPr>
        <p:spPr>
          <a:xfrm>
            <a:off x="1371600" y="5038344"/>
            <a:ext cx="10058400" cy="9144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BIS (2021) and UK Finance (2025) document a step-change in cash-to-digital substitution in 2020 that did not revert, including contactless growth driven by limit increases.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506730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5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Data and methodology</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Eight authoritative datasets, interpretable models</a:t>
            </a:r>
            <a:endParaRPr lang="en-US" sz="1300" dirty="0"/>
          </a:p>
        </p:txBody>
      </p:sp>
      <p:sp>
        <p:nvSpPr>
          <p:cNvPr id="9" name="Text 7"/>
          <p:cNvSpPr/>
          <p:nvPr/>
        </p:nvSpPr>
        <p:spPr>
          <a:xfrm>
            <a:off x="502920" y="1554480"/>
            <a:ext cx="5486400" cy="36576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Eight datasets, 2000–2025</a:t>
            </a:r>
            <a:endParaRPr lang="en-US" sz="1600" dirty="0"/>
          </a:p>
        </p:txBody>
      </p:sp>
      <p:sp>
        <p:nvSpPr>
          <p:cNvPr id="10" name="Shape 8"/>
          <p:cNvSpPr/>
          <p:nvPr/>
        </p:nvSpPr>
        <p:spPr>
          <a:xfrm>
            <a:off x="502920" y="2057400"/>
            <a:ext cx="164592" cy="164592"/>
          </a:xfrm>
          <a:prstGeom prst="ellipse">
            <a:avLst/>
          </a:prstGeom>
          <a:solidFill>
            <a:srgbClr val="4BCD3E"/>
          </a:solidFill>
          <a:ln w="12700">
            <a:solidFill>
              <a:srgbClr val="4BCD3E"/>
            </a:solidFill>
            <a:prstDash val="solid"/>
          </a:ln>
        </p:spPr>
      </p:sp>
      <p:sp>
        <p:nvSpPr>
          <p:cNvPr id="11" name="Text 9"/>
          <p:cNvSpPr/>
          <p:nvPr/>
        </p:nvSpPr>
        <p:spPr>
          <a:xfrm>
            <a:off x="795528" y="1993392"/>
            <a:ext cx="292608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BoE — interest rates</a:t>
            </a:r>
            <a:endParaRPr lang="en-US" sz="1200" dirty="0"/>
          </a:p>
        </p:txBody>
      </p:sp>
      <p:sp>
        <p:nvSpPr>
          <p:cNvPr id="12" name="Shape 10"/>
          <p:cNvSpPr/>
          <p:nvPr/>
        </p:nvSpPr>
        <p:spPr>
          <a:xfrm>
            <a:off x="502920" y="2560320"/>
            <a:ext cx="164592" cy="164592"/>
          </a:xfrm>
          <a:prstGeom prst="ellipse">
            <a:avLst/>
          </a:prstGeom>
          <a:solidFill>
            <a:srgbClr val="4BCD3E"/>
          </a:solidFill>
          <a:ln w="12700">
            <a:solidFill>
              <a:srgbClr val="4BCD3E"/>
            </a:solidFill>
            <a:prstDash val="solid"/>
          </a:ln>
        </p:spPr>
      </p:sp>
      <p:sp>
        <p:nvSpPr>
          <p:cNvPr id="13" name="Text 11"/>
          <p:cNvSpPr/>
          <p:nvPr/>
        </p:nvSpPr>
        <p:spPr>
          <a:xfrm>
            <a:off x="795528" y="2496312"/>
            <a:ext cx="292608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UK Finance — payment volumes</a:t>
            </a:r>
            <a:endParaRPr lang="en-US" sz="1200" dirty="0"/>
          </a:p>
        </p:txBody>
      </p:sp>
      <p:sp>
        <p:nvSpPr>
          <p:cNvPr id="14" name="Shape 12"/>
          <p:cNvSpPr/>
          <p:nvPr/>
        </p:nvSpPr>
        <p:spPr>
          <a:xfrm>
            <a:off x="502920" y="3063240"/>
            <a:ext cx="164592" cy="164592"/>
          </a:xfrm>
          <a:prstGeom prst="ellipse">
            <a:avLst/>
          </a:prstGeom>
          <a:solidFill>
            <a:srgbClr val="4BCD3E"/>
          </a:solidFill>
          <a:ln w="12700">
            <a:solidFill>
              <a:srgbClr val="4BCD3E"/>
            </a:solidFill>
            <a:prstDash val="solid"/>
          </a:ln>
        </p:spPr>
      </p:sp>
      <p:sp>
        <p:nvSpPr>
          <p:cNvPr id="15" name="Text 13"/>
          <p:cNvSpPr/>
          <p:nvPr/>
        </p:nvSpPr>
        <p:spPr>
          <a:xfrm>
            <a:off x="795528" y="2999232"/>
            <a:ext cx="292608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ONS — bank branches &amp; banks</a:t>
            </a:r>
            <a:endParaRPr lang="en-US" sz="1200" dirty="0"/>
          </a:p>
        </p:txBody>
      </p:sp>
      <p:sp>
        <p:nvSpPr>
          <p:cNvPr id="16" name="Shape 14"/>
          <p:cNvSpPr/>
          <p:nvPr/>
        </p:nvSpPr>
        <p:spPr>
          <a:xfrm>
            <a:off x="502920" y="3566160"/>
            <a:ext cx="164592" cy="164592"/>
          </a:xfrm>
          <a:prstGeom prst="ellipse">
            <a:avLst/>
          </a:prstGeom>
          <a:solidFill>
            <a:srgbClr val="4BCD3E"/>
          </a:solidFill>
          <a:ln w="12700">
            <a:solidFill>
              <a:srgbClr val="4BCD3E"/>
            </a:solidFill>
            <a:prstDash val="solid"/>
          </a:ln>
        </p:spPr>
      </p:sp>
      <p:sp>
        <p:nvSpPr>
          <p:cNvPr id="17" name="Text 15"/>
          <p:cNvSpPr/>
          <p:nvPr/>
        </p:nvSpPr>
        <p:spPr>
          <a:xfrm>
            <a:off x="795528" y="3502152"/>
            <a:ext cx="292608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Pay.UK — CASS switching</a:t>
            </a:r>
            <a:endParaRPr lang="en-US" sz="1200" dirty="0"/>
          </a:p>
        </p:txBody>
      </p:sp>
      <p:sp>
        <p:nvSpPr>
          <p:cNvPr id="18" name="Shape 16"/>
          <p:cNvSpPr/>
          <p:nvPr/>
        </p:nvSpPr>
        <p:spPr>
          <a:xfrm>
            <a:off x="3611880" y="2057400"/>
            <a:ext cx="164592" cy="164592"/>
          </a:xfrm>
          <a:prstGeom prst="ellipse">
            <a:avLst/>
          </a:prstGeom>
          <a:solidFill>
            <a:srgbClr val="4BCD3E"/>
          </a:solidFill>
          <a:ln w="12700">
            <a:solidFill>
              <a:srgbClr val="4BCD3E"/>
            </a:solidFill>
            <a:prstDash val="solid"/>
          </a:ln>
        </p:spPr>
      </p:sp>
      <p:sp>
        <p:nvSpPr>
          <p:cNvPr id="19" name="Text 17"/>
          <p:cNvSpPr/>
          <p:nvPr/>
        </p:nvSpPr>
        <p:spPr>
          <a:xfrm>
            <a:off x="3904488" y="1993392"/>
            <a:ext cx="256032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LINK Scheme — ATM trends</a:t>
            </a:r>
            <a:endParaRPr lang="en-US" sz="1200" dirty="0"/>
          </a:p>
        </p:txBody>
      </p:sp>
      <p:sp>
        <p:nvSpPr>
          <p:cNvPr id="20" name="Shape 18"/>
          <p:cNvSpPr/>
          <p:nvPr/>
        </p:nvSpPr>
        <p:spPr>
          <a:xfrm>
            <a:off x="3611880" y="2560320"/>
            <a:ext cx="164592" cy="164592"/>
          </a:xfrm>
          <a:prstGeom prst="ellipse">
            <a:avLst/>
          </a:prstGeom>
          <a:solidFill>
            <a:srgbClr val="4BCD3E"/>
          </a:solidFill>
          <a:ln w="12700">
            <a:solidFill>
              <a:srgbClr val="4BCD3E"/>
            </a:solidFill>
            <a:prstDash val="solid"/>
          </a:ln>
        </p:spPr>
      </p:sp>
      <p:sp>
        <p:nvSpPr>
          <p:cNvPr id="21" name="Text 19"/>
          <p:cNvSpPr/>
          <p:nvPr/>
        </p:nvSpPr>
        <p:spPr>
          <a:xfrm>
            <a:off x="3904488" y="2496312"/>
            <a:ext cx="256032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UK Finance — card fraud losses</a:t>
            </a:r>
            <a:endParaRPr lang="en-US" sz="1200" dirty="0"/>
          </a:p>
        </p:txBody>
      </p:sp>
      <p:sp>
        <p:nvSpPr>
          <p:cNvPr id="22" name="Shape 20"/>
          <p:cNvSpPr/>
          <p:nvPr/>
        </p:nvSpPr>
        <p:spPr>
          <a:xfrm>
            <a:off x="3611880" y="3063240"/>
            <a:ext cx="164592" cy="164592"/>
          </a:xfrm>
          <a:prstGeom prst="ellipse">
            <a:avLst/>
          </a:prstGeom>
          <a:solidFill>
            <a:srgbClr val="4BCD3E"/>
          </a:solidFill>
          <a:ln w="12700">
            <a:solidFill>
              <a:srgbClr val="4BCD3E"/>
            </a:solidFill>
            <a:prstDash val="solid"/>
          </a:ln>
        </p:spPr>
      </p:sp>
      <p:sp>
        <p:nvSpPr>
          <p:cNvPr id="23" name="Text 21"/>
          <p:cNvSpPr/>
          <p:nvPr/>
        </p:nvSpPr>
        <p:spPr>
          <a:xfrm>
            <a:off x="3904488" y="2999232"/>
            <a:ext cx="256032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BoE — deposit &amp; credit balances</a:t>
            </a:r>
            <a:endParaRPr lang="en-US" sz="1200" dirty="0"/>
          </a:p>
        </p:txBody>
      </p:sp>
      <p:sp>
        <p:nvSpPr>
          <p:cNvPr id="24" name="Shape 22"/>
          <p:cNvSpPr/>
          <p:nvPr/>
        </p:nvSpPr>
        <p:spPr>
          <a:xfrm>
            <a:off x="3611880" y="3566160"/>
            <a:ext cx="164592" cy="164592"/>
          </a:xfrm>
          <a:prstGeom prst="ellipse">
            <a:avLst/>
          </a:prstGeom>
          <a:solidFill>
            <a:srgbClr val="4BCD3E"/>
          </a:solidFill>
          <a:ln w="12700">
            <a:solidFill>
              <a:srgbClr val="4BCD3E"/>
            </a:solidFill>
            <a:prstDash val="solid"/>
          </a:ln>
        </p:spPr>
      </p:sp>
      <p:sp>
        <p:nvSpPr>
          <p:cNvPr id="25" name="Text 23"/>
          <p:cNvSpPr/>
          <p:nvPr/>
        </p:nvSpPr>
        <p:spPr>
          <a:xfrm>
            <a:off x="3904488" y="3502152"/>
            <a:ext cx="2560320" cy="3200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UK Finance — contactless limits</a:t>
            </a:r>
            <a:endParaRPr lang="en-US" sz="1200" dirty="0"/>
          </a:p>
        </p:txBody>
      </p:sp>
      <p:sp>
        <p:nvSpPr>
          <p:cNvPr id="26" name="Text 24"/>
          <p:cNvSpPr/>
          <p:nvPr/>
        </p:nvSpPr>
        <p:spPr>
          <a:xfrm>
            <a:off x="6766560" y="1554480"/>
            <a:ext cx="5029200" cy="365760"/>
          </a:xfrm>
          <a:prstGeom prst="rect">
            <a:avLst/>
          </a:prstGeom>
          <a:noFill/>
          <a:ln/>
        </p:spPr>
        <p:txBody>
          <a:bodyPr wrap="square" lIns="0" tIns="0" rIns="0" bIns="0" rtlCol="0" anchor="ctr"/>
          <a:lstStyle/>
          <a:p>
            <a:pPr indent="0" marL="0">
              <a:buNone/>
            </a:pPr>
            <a:r>
              <a:rPr lang="en-US" sz="1600" b="1" dirty="0">
                <a:solidFill>
                  <a:srgbClr val="012834"/>
                </a:solidFill>
                <a:latin typeface="Calibri" pitchFamily="34" charset="0"/>
                <a:ea typeface="Calibri" pitchFamily="34" charset="-122"/>
                <a:cs typeface="Calibri" pitchFamily="34" charset="-120"/>
              </a:rPr>
              <a:t>Analytical pipeline</a:t>
            </a:r>
            <a:endParaRPr lang="en-US" sz="1600" dirty="0"/>
          </a:p>
        </p:txBody>
      </p:sp>
      <p:sp>
        <p:nvSpPr>
          <p:cNvPr id="27" name="Shape 25"/>
          <p:cNvSpPr/>
          <p:nvPr/>
        </p:nvSpPr>
        <p:spPr>
          <a:xfrm>
            <a:off x="6766560" y="2103120"/>
            <a:ext cx="4937760" cy="502920"/>
          </a:xfrm>
          <a:prstGeom prst="rect">
            <a:avLst/>
          </a:prstGeom>
          <a:solidFill>
            <a:srgbClr val="F9F5F1"/>
          </a:solidFill>
          <a:ln w="6350">
            <a:solidFill>
              <a:srgbClr val="D6D6D6"/>
            </a:solidFill>
            <a:prstDash val="solid"/>
          </a:ln>
        </p:spPr>
      </p:sp>
      <p:sp>
        <p:nvSpPr>
          <p:cNvPr id="28" name="Shape 26"/>
          <p:cNvSpPr/>
          <p:nvPr/>
        </p:nvSpPr>
        <p:spPr>
          <a:xfrm>
            <a:off x="6766560" y="2103120"/>
            <a:ext cx="91440" cy="502920"/>
          </a:xfrm>
          <a:prstGeom prst="rect">
            <a:avLst/>
          </a:prstGeom>
          <a:solidFill>
            <a:srgbClr val="4BCD3E"/>
          </a:solidFill>
          <a:ln w="12700">
            <a:solidFill>
              <a:srgbClr val="4BCD3E"/>
            </a:solidFill>
            <a:prstDash val="solid"/>
          </a:ln>
        </p:spPr>
      </p:sp>
      <p:sp>
        <p:nvSpPr>
          <p:cNvPr id="29" name="Text 27"/>
          <p:cNvSpPr/>
          <p:nvPr/>
        </p:nvSpPr>
        <p:spPr>
          <a:xfrm>
            <a:off x="6949440" y="2103120"/>
            <a:ext cx="914400" cy="502920"/>
          </a:xfrm>
          <a:prstGeom prst="rect">
            <a:avLst/>
          </a:prstGeom>
          <a:noFill/>
          <a:ln/>
        </p:spPr>
        <p:txBody>
          <a:bodyPr wrap="square" lIns="0" tIns="0" rIns="0" bIns="0" rtlCol="0" anchor="ctr"/>
          <a:lstStyle/>
          <a:p>
            <a:pPr indent="0" marL="0">
              <a:buNone/>
            </a:pPr>
            <a:r>
              <a:rPr lang="en-US" sz="1100" b="1" dirty="0">
                <a:solidFill>
                  <a:srgbClr val="5A6068"/>
                </a:solidFill>
                <a:latin typeface="Calibri" pitchFamily="34" charset="0"/>
                <a:ea typeface="Calibri" pitchFamily="34" charset="-122"/>
                <a:cs typeface="Calibri" pitchFamily="34" charset="-120"/>
              </a:rPr>
              <a:t>Step 1</a:t>
            </a:r>
            <a:endParaRPr lang="en-US" sz="1100" dirty="0"/>
          </a:p>
        </p:txBody>
      </p:sp>
      <p:sp>
        <p:nvSpPr>
          <p:cNvPr id="30" name="Text 28"/>
          <p:cNvSpPr/>
          <p:nvPr/>
        </p:nvSpPr>
        <p:spPr>
          <a:xfrm>
            <a:off x="7863840" y="2103120"/>
            <a:ext cx="37490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Clean &amp; harmonise</a:t>
            </a:r>
            <a:endParaRPr lang="en-US" sz="1300" dirty="0"/>
          </a:p>
        </p:txBody>
      </p:sp>
      <p:sp>
        <p:nvSpPr>
          <p:cNvPr id="31" name="Shape 29"/>
          <p:cNvSpPr/>
          <p:nvPr/>
        </p:nvSpPr>
        <p:spPr>
          <a:xfrm>
            <a:off x="6766560" y="2743200"/>
            <a:ext cx="4937760" cy="502920"/>
          </a:xfrm>
          <a:prstGeom prst="rect">
            <a:avLst/>
          </a:prstGeom>
          <a:solidFill>
            <a:srgbClr val="F9F5F1"/>
          </a:solidFill>
          <a:ln w="6350">
            <a:solidFill>
              <a:srgbClr val="D6D6D6"/>
            </a:solidFill>
            <a:prstDash val="solid"/>
          </a:ln>
        </p:spPr>
      </p:sp>
      <p:sp>
        <p:nvSpPr>
          <p:cNvPr id="32" name="Shape 30"/>
          <p:cNvSpPr/>
          <p:nvPr/>
        </p:nvSpPr>
        <p:spPr>
          <a:xfrm>
            <a:off x="6766560" y="2743200"/>
            <a:ext cx="91440" cy="502920"/>
          </a:xfrm>
          <a:prstGeom prst="rect">
            <a:avLst/>
          </a:prstGeom>
          <a:solidFill>
            <a:srgbClr val="4BCD3E"/>
          </a:solidFill>
          <a:ln w="12700">
            <a:solidFill>
              <a:srgbClr val="4BCD3E"/>
            </a:solidFill>
            <a:prstDash val="solid"/>
          </a:ln>
        </p:spPr>
      </p:sp>
      <p:sp>
        <p:nvSpPr>
          <p:cNvPr id="33" name="Text 31"/>
          <p:cNvSpPr/>
          <p:nvPr/>
        </p:nvSpPr>
        <p:spPr>
          <a:xfrm>
            <a:off x="6949440" y="2743200"/>
            <a:ext cx="914400" cy="502920"/>
          </a:xfrm>
          <a:prstGeom prst="rect">
            <a:avLst/>
          </a:prstGeom>
          <a:noFill/>
          <a:ln/>
        </p:spPr>
        <p:txBody>
          <a:bodyPr wrap="square" lIns="0" tIns="0" rIns="0" bIns="0" rtlCol="0" anchor="ctr"/>
          <a:lstStyle/>
          <a:p>
            <a:pPr indent="0" marL="0">
              <a:buNone/>
            </a:pPr>
            <a:r>
              <a:rPr lang="en-US" sz="1100" b="1" dirty="0">
                <a:solidFill>
                  <a:srgbClr val="5A6068"/>
                </a:solidFill>
                <a:latin typeface="Calibri" pitchFamily="34" charset="0"/>
                <a:ea typeface="Calibri" pitchFamily="34" charset="-122"/>
                <a:cs typeface="Calibri" pitchFamily="34" charset="-120"/>
              </a:rPr>
              <a:t>Step 2</a:t>
            </a:r>
            <a:endParaRPr lang="en-US" sz="1100" dirty="0"/>
          </a:p>
        </p:txBody>
      </p:sp>
      <p:sp>
        <p:nvSpPr>
          <p:cNvPr id="34" name="Text 32"/>
          <p:cNvSpPr/>
          <p:nvPr/>
        </p:nvSpPr>
        <p:spPr>
          <a:xfrm>
            <a:off x="7863840" y="2743200"/>
            <a:ext cx="37490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EDA + correlation analysis</a:t>
            </a:r>
            <a:endParaRPr lang="en-US" sz="1300" dirty="0"/>
          </a:p>
        </p:txBody>
      </p:sp>
      <p:sp>
        <p:nvSpPr>
          <p:cNvPr id="35" name="Shape 33"/>
          <p:cNvSpPr/>
          <p:nvPr/>
        </p:nvSpPr>
        <p:spPr>
          <a:xfrm>
            <a:off x="6766560" y="3383280"/>
            <a:ext cx="4937760" cy="502920"/>
          </a:xfrm>
          <a:prstGeom prst="rect">
            <a:avLst/>
          </a:prstGeom>
          <a:solidFill>
            <a:srgbClr val="F9F5F1"/>
          </a:solidFill>
          <a:ln w="6350">
            <a:solidFill>
              <a:srgbClr val="D6D6D6"/>
            </a:solidFill>
            <a:prstDash val="solid"/>
          </a:ln>
        </p:spPr>
      </p:sp>
      <p:sp>
        <p:nvSpPr>
          <p:cNvPr id="36" name="Shape 34"/>
          <p:cNvSpPr/>
          <p:nvPr/>
        </p:nvSpPr>
        <p:spPr>
          <a:xfrm>
            <a:off x="6766560" y="3383280"/>
            <a:ext cx="91440" cy="502920"/>
          </a:xfrm>
          <a:prstGeom prst="rect">
            <a:avLst/>
          </a:prstGeom>
          <a:solidFill>
            <a:srgbClr val="4BCD3E"/>
          </a:solidFill>
          <a:ln w="12700">
            <a:solidFill>
              <a:srgbClr val="4BCD3E"/>
            </a:solidFill>
            <a:prstDash val="solid"/>
          </a:ln>
        </p:spPr>
      </p:sp>
      <p:sp>
        <p:nvSpPr>
          <p:cNvPr id="37" name="Text 35"/>
          <p:cNvSpPr/>
          <p:nvPr/>
        </p:nvSpPr>
        <p:spPr>
          <a:xfrm>
            <a:off x="6949440" y="3383280"/>
            <a:ext cx="914400" cy="502920"/>
          </a:xfrm>
          <a:prstGeom prst="rect">
            <a:avLst/>
          </a:prstGeom>
          <a:noFill/>
          <a:ln/>
        </p:spPr>
        <p:txBody>
          <a:bodyPr wrap="square" lIns="0" tIns="0" rIns="0" bIns="0" rtlCol="0" anchor="ctr"/>
          <a:lstStyle/>
          <a:p>
            <a:pPr indent="0" marL="0">
              <a:buNone/>
            </a:pPr>
            <a:r>
              <a:rPr lang="en-US" sz="1100" b="1" dirty="0">
                <a:solidFill>
                  <a:srgbClr val="5A6068"/>
                </a:solidFill>
                <a:latin typeface="Calibri" pitchFamily="34" charset="0"/>
                <a:ea typeface="Calibri" pitchFamily="34" charset="-122"/>
                <a:cs typeface="Calibri" pitchFamily="34" charset="-120"/>
              </a:rPr>
              <a:t>Step 3</a:t>
            </a:r>
            <a:endParaRPr lang="en-US" sz="1100" dirty="0"/>
          </a:p>
        </p:txBody>
      </p:sp>
      <p:sp>
        <p:nvSpPr>
          <p:cNvPr id="38" name="Text 36"/>
          <p:cNvSpPr/>
          <p:nvPr/>
        </p:nvSpPr>
        <p:spPr>
          <a:xfrm>
            <a:off x="7863840" y="3383280"/>
            <a:ext cx="37490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OLS for macro relationships</a:t>
            </a:r>
            <a:endParaRPr lang="en-US" sz="1300" dirty="0"/>
          </a:p>
        </p:txBody>
      </p:sp>
      <p:sp>
        <p:nvSpPr>
          <p:cNvPr id="39" name="Shape 37"/>
          <p:cNvSpPr/>
          <p:nvPr/>
        </p:nvSpPr>
        <p:spPr>
          <a:xfrm>
            <a:off x="6766560" y="4023360"/>
            <a:ext cx="4937760" cy="502920"/>
          </a:xfrm>
          <a:prstGeom prst="rect">
            <a:avLst/>
          </a:prstGeom>
          <a:solidFill>
            <a:srgbClr val="F9F5F1"/>
          </a:solidFill>
          <a:ln w="6350">
            <a:solidFill>
              <a:srgbClr val="D6D6D6"/>
            </a:solidFill>
            <a:prstDash val="solid"/>
          </a:ln>
        </p:spPr>
      </p:sp>
      <p:sp>
        <p:nvSpPr>
          <p:cNvPr id="40" name="Shape 38"/>
          <p:cNvSpPr/>
          <p:nvPr/>
        </p:nvSpPr>
        <p:spPr>
          <a:xfrm>
            <a:off x="6766560" y="4023360"/>
            <a:ext cx="91440" cy="502920"/>
          </a:xfrm>
          <a:prstGeom prst="rect">
            <a:avLst/>
          </a:prstGeom>
          <a:solidFill>
            <a:srgbClr val="4BCD3E"/>
          </a:solidFill>
          <a:ln w="12700">
            <a:solidFill>
              <a:srgbClr val="4BCD3E"/>
            </a:solidFill>
            <a:prstDash val="solid"/>
          </a:ln>
        </p:spPr>
      </p:sp>
      <p:sp>
        <p:nvSpPr>
          <p:cNvPr id="41" name="Text 39"/>
          <p:cNvSpPr/>
          <p:nvPr/>
        </p:nvSpPr>
        <p:spPr>
          <a:xfrm>
            <a:off x="6949440" y="4023360"/>
            <a:ext cx="914400" cy="502920"/>
          </a:xfrm>
          <a:prstGeom prst="rect">
            <a:avLst/>
          </a:prstGeom>
          <a:noFill/>
          <a:ln/>
        </p:spPr>
        <p:txBody>
          <a:bodyPr wrap="square" lIns="0" tIns="0" rIns="0" bIns="0" rtlCol="0" anchor="ctr"/>
          <a:lstStyle/>
          <a:p>
            <a:pPr indent="0" marL="0">
              <a:buNone/>
            </a:pPr>
            <a:r>
              <a:rPr lang="en-US" sz="1100" b="1" dirty="0">
                <a:solidFill>
                  <a:srgbClr val="5A6068"/>
                </a:solidFill>
                <a:latin typeface="Calibri" pitchFamily="34" charset="0"/>
                <a:ea typeface="Calibri" pitchFamily="34" charset="-122"/>
                <a:cs typeface="Calibri" pitchFamily="34" charset="-120"/>
              </a:rPr>
              <a:t>Step 4</a:t>
            </a:r>
            <a:endParaRPr lang="en-US" sz="1100" dirty="0"/>
          </a:p>
        </p:txBody>
      </p:sp>
      <p:sp>
        <p:nvSpPr>
          <p:cNvPr id="42" name="Text 40"/>
          <p:cNvSpPr/>
          <p:nvPr/>
        </p:nvSpPr>
        <p:spPr>
          <a:xfrm>
            <a:off x="7863840" y="4023360"/>
            <a:ext cx="37490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Parameter-light forecasting</a:t>
            </a:r>
            <a:endParaRPr lang="en-US" sz="1300" dirty="0"/>
          </a:p>
        </p:txBody>
      </p:sp>
      <p:sp>
        <p:nvSpPr>
          <p:cNvPr id="43" name="Shape 41"/>
          <p:cNvSpPr/>
          <p:nvPr/>
        </p:nvSpPr>
        <p:spPr>
          <a:xfrm>
            <a:off x="6766560" y="4663440"/>
            <a:ext cx="4937760" cy="502920"/>
          </a:xfrm>
          <a:prstGeom prst="rect">
            <a:avLst/>
          </a:prstGeom>
          <a:solidFill>
            <a:srgbClr val="F9F5F1"/>
          </a:solidFill>
          <a:ln w="6350">
            <a:solidFill>
              <a:srgbClr val="D6D6D6"/>
            </a:solidFill>
            <a:prstDash val="solid"/>
          </a:ln>
        </p:spPr>
      </p:sp>
      <p:sp>
        <p:nvSpPr>
          <p:cNvPr id="44" name="Shape 42"/>
          <p:cNvSpPr/>
          <p:nvPr/>
        </p:nvSpPr>
        <p:spPr>
          <a:xfrm>
            <a:off x="6766560" y="4663440"/>
            <a:ext cx="91440" cy="502920"/>
          </a:xfrm>
          <a:prstGeom prst="rect">
            <a:avLst/>
          </a:prstGeom>
          <a:solidFill>
            <a:srgbClr val="4BCD3E"/>
          </a:solidFill>
          <a:ln w="12700">
            <a:solidFill>
              <a:srgbClr val="4BCD3E"/>
            </a:solidFill>
            <a:prstDash val="solid"/>
          </a:ln>
        </p:spPr>
      </p:sp>
      <p:sp>
        <p:nvSpPr>
          <p:cNvPr id="45" name="Text 43"/>
          <p:cNvSpPr/>
          <p:nvPr/>
        </p:nvSpPr>
        <p:spPr>
          <a:xfrm>
            <a:off x="6949440" y="4663440"/>
            <a:ext cx="914400" cy="502920"/>
          </a:xfrm>
          <a:prstGeom prst="rect">
            <a:avLst/>
          </a:prstGeom>
          <a:noFill/>
          <a:ln/>
        </p:spPr>
        <p:txBody>
          <a:bodyPr wrap="square" lIns="0" tIns="0" rIns="0" bIns="0" rtlCol="0" anchor="ctr"/>
          <a:lstStyle/>
          <a:p>
            <a:pPr indent="0" marL="0">
              <a:buNone/>
            </a:pPr>
            <a:r>
              <a:rPr lang="en-US" sz="1100" b="1" dirty="0">
                <a:solidFill>
                  <a:srgbClr val="5A6068"/>
                </a:solidFill>
                <a:latin typeface="Calibri" pitchFamily="34" charset="0"/>
                <a:ea typeface="Calibri" pitchFamily="34" charset="-122"/>
                <a:cs typeface="Calibri" pitchFamily="34" charset="-120"/>
              </a:rPr>
              <a:t>Step 5</a:t>
            </a:r>
            <a:endParaRPr lang="en-US" sz="1100" dirty="0"/>
          </a:p>
        </p:txBody>
      </p:sp>
      <p:sp>
        <p:nvSpPr>
          <p:cNvPr id="46" name="Text 44"/>
          <p:cNvSpPr/>
          <p:nvPr/>
        </p:nvSpPr>
        <p:spPr>
          <a:xfrm>
            <a:off x="7863840" y="4663440"/>
            <a:ext cx="37490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Sensitivity &amp; Monte Carlo</a:t>
            </a:r>
            <a:endParaRPr lang="en-US" sz="1300" dirty="0"/>
          </a:p>
        </p:txBody>
      </p:sp>
      <p:sp>
        <p:nvSpPr>
          <p:cNvPr id="47" name="Shape 45"/>
          <p:cNvSpPr/>
          <p:nvPr/>
        </p:nvSpPr>
        <p:spPr>
          <a:xfrm>
            <a:off x="502920" y="5532120"/>
            <a:ext cx="11155680" cy="777240"/>
          </a:xfrm>
          <a:prstGeom prst="rect">
            <a:avLst/>
          </a:prstGeom>
          <a:solidFill>
            <a:srgbClr val="012834"/>
          </a:solidFill>
          <a:ln w="12700">
            <a:solidFill>
              <a:srgbClr val="012834"/>
            </a:solidFill>
            <a:prstDash val="solid"/>
          </a:ln>
        </p:spPr>
      </p:sp>
      <p:sp>
        <p:nvSpPr>
          <p:cNvPr id="48" name="Text 46"/>
          <p:cNvSpPr/>
          <p:nvPr/>
        </p:nvSpPr>
        <p:spPr>
          <a:xfrm>
            <a:off x="777240" y="5623560"/>
            <a:ext cx="10607040" cy="640080"/>
          </a:xfrm>
          <a:prstGeom prst="rect">
            <a:avLst/>
          </a:prstGeom>
          <a:noFill/>
          <a:ln/>
        </p:spPr>
        <p:txBody>
          <a:bodyPr wrap="square" lIns="0" tIns="0" rIns="0" bIns="0" rtlCol="0" anchor="ctr"/>
          <a:lstStyle/>
          <a:p>
            <a:pPr indent="0" marL="0">
              <a:buNone/>
            </a:pPr>
            <a:r>
              <a:rPr lang="en-US" sz="1200" b="1" dirty="0">
                <a:solidFill>
                  <a:srgbClr val="4BCD3E"/>
                </a:solidFill>
                <a:latin typeface="Calibri" pitchFamily="34" charset="0"/>
                <a:ea typeface="Calibri" pitchFamily="34" charset="-122"/>
                <a:cs typeface="Calibri" pitchFamily="34" charset="-120"/>
              </a:rPr>
              <a:t>Why parameter-light models? </a:t>
            </a:r>
            <a:pPr indent="0" marL="0">
              <a:buNone/>
            </a:pPr>
            <a:r>
              <a:rPr lang="en-US" sz="1200" dirty="0">
                <a:solidFill>
                  <a:srgbClr val="FFFFFF"/>
                </a:solidFill>
                <a:latin typeface="Calibri" pitchFamily="34" charset="0"/>
                <a:ea typeface="Calibri" pitchFamily="34" charset="-122"/>
                <a:cs typeface="Calibri" pitchFamily="34" charset="-120"/>
              </a:rPr>
              <a:t>Emerging-payment data spans only 2014–2024; with n≈10 after removing the 2020 outlier, heavily-parameterised ARIMA would overfit. We use floored-exponential, Gompertz, Bass and ARDL(1,0) instead.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608076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6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Historical findings</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Cash collapsed, cards and contactless took over</a:t>
            </a:r>
            <a:endParaRPr lang="en-US" sz="1300" dirty="0"/>
          </a:p>
        </p:txBody>
      </p:sp>
      <p:pic>
        <p:nvPicPr>
          <p:cNvPr id="9" name="Image 0" descr="/mnt/user-data/outputs/charts_payments_eda_fis/overall_payment_behaviour_trends_cash_decline_card_rise.png">    </p:cNvPr>
          <p:cNvPicPr>
            <a:picLocks noChangeAspect="1"/>
          </p:cNvPicPr>
          <p:nvPr/>
        </p:nvPicPr>
        <p:blipFill>
          <a:blip r:embed="rId1"/>
          <a:srcRect l="0" r="0" t="0" b="0"/>
          <a:stretch/>
        </p:blipFill>
        <p:spPr>
          <a:xfrm>
            <a:off x="502920" y="1417320"/>
            <a:ext cx="7772400" cy="4572000"/>
          </a:xfrm>
          <a:prstGeom prst="rect">
            <a:avLst/>
          </a:prstGeom>
        </p:spPr>
      </p:pic>
      <p:sp>
        <p:nvSpPr>
          <p:cNvPr id="10" name="Shape 7"/>
          <p:cNvSpPr/>
          <p:nvPr/>
        </p:nvSpPr>
        <p:spPr>
          <a:xfrm>
            <a:off x="8503920" y="1417320"/>
            <a:ext cx="3246120" cy="4572000"/>
          </a:xfrm>
          <a:prstGeom prst="rect">
            <a:avLst/>
          </a:prstGeom>
          <a:solidFill>
            <a:srgbClr val="F9F5F1"/>
          </a:solidFill>
          <a:ln w="6350">
            <a:solidFill>
              <a:srgbClr val="D6D6D6"/>
            </a:solidFill>
            <a:prstDash val="solid"/>
          </a:ln>
        </p:spPr>
      </p:sp>
      <p:sp>
        <p:nvSpPr>
          <p:cNvPr id="11" name="Text 8"/>
          <p:cNvSpPr/>
          <p:nvPr/>
        </p:nvSpPr>
        <p:spPr>
          <a:xfrm>
            <a:off x="8686800" y="1554480"/>
            <a:ext cx="2926080" cy="365760"/>
          </a:xfrm>
          <a:prstGeom prst="rect">
            <a:avLst/>
          </a:prstGeom>
          <a:noFill/>
          <a:ln/>
        </p:spPr>
        <p:txBody>
          <a:bodyPr wrap="square" lIns="0" tIns="0" rIns="0" bIns="0" rtlCol="0" anchor="ctr"/>
          <a:lstStyle/>
          <a:p>
            <a:pPr indent="0" marL="0">
              <a:buNone/>
            </a:pPr>
            <a:r>
              <a:rPr lang="en-US" sz="1400" b="1" dirty="0">
                <a:solidFill>
                  <a:srgbClr val="012834"/>
                </a:solidFill>
                <a:latin typeface="Calibri" pitchFamily="34" charset="0"/>
                <a:ea typeface="Calibri" pitchFamily="34" charset="-122"/>
                <a:cs typeface="Calibri" pitchFamily="34" charset="-120"/>
              </a:rPr>
              <a:t>What the data shows</a:t>
            </a:r>
            <a:endParaRPr lang="en-US" sz="1400" dirty="0"/>
          </a:p>
        </p:txBody>
      </p:sp>
      <p:sp>
        <p:nvSpPr>
          <p:cNvPr id="12" name="Text 9"/>
          <p:cNvSpPr/>
          <p:nvPr/>
        </p:nvSpPr>
        <p:spPr>
          <a:xfrm>
            <a:off x="8686800" y="2011680"/>
            <a:ext cx="2926080" cy="274320"/>
          </a:xfrm>
          <a:prstGeom prst="rect">
            <a:avLst/>
          </a:prstGeom>
          <a:noFill/>
          <a:ln/>
        </p:spPr>
        <p:txBody>
          <a:bodyPr wrap="square" lIns="0" tIns="0" rIns="0" bIns="0" rtlCol="0" anchor="ctr"/>
          <a:lstStyle/>
          <a:p>
            <a:pPr indent="0" marL="0">
              <a:buNone/>
            </a:pPr>
            <a:r>
              <a:rPr lang="en-US" sz="1000" b="1" dirty="0">
                <a:solidFill>
                  <a:srgbClr val="5A6068"/>
                </a:solidFill>
                <a:latin typeface="Calibri" pitchFamily="34" charset="0"/>
                <a:ea typeface="Calibri" pitchFamily="34" charset="-122"/>
                <a:cs typeface="Calibri" pitchFamily="34" charset="-120"/>
              </a:rPr>
              <a:t>Cash</a:t>
            </a:r>
            <a:endParaRPr lang="en-US" sz="1000" dirty="0"/>
          </a:p>
        </p:txBody>
      </p:sp>
      <p:sp>
        <p:nvSpPr>
          <p:cNvPr id="13" name="Text 10"/>
          <p:cNvSpPr/>
          <p:nvPr/>
        </p:nvSpPr>
        <p:spPr>
          <a:xfrm>
            <a:off x="8686800" y="2240280"/>
            <a:ext cx="2926080" cy="411480"/>
          </a:xfrm>
          <a:prstGeom prst="rect">
            <a:avLst/>
          </a:prstGeom>
          <a:noFill/>
          <a:ln/>
        </p:spPr>
        <p:txBody>
          <a:bodyPr wrap="square" lIns="0" tIns="0" rIns="0" bIns="0" rtlCol="0" anchor="ctr"/>
          <a:lstStyle/>
          <a:p>
            <a:pPr indent="0" marL="0">
              <a:buNone/>
            </a:pPr>
            <a:r>
              <a:rPr lang="en-US" sz="1800" b="1" dirty="0">
                <a:solidFill>
                  <a:srgbClr val="4BCD3E"/>
                </a:solidFill>
                <a:latin typeface="Calibri" pitchFamily="34" charset="0"/>
                <a:ea typeface="Calibri" pitchFamily="34" charset="-122"/>
                <a:cs typeface="Calibri" pitchFamily="34" charset="-120"/>
              </a:rPr>
              <a:t>18.2 → 4.4 bn</a:t>
            </a:r>
            <a:endParaRPr lang="en-US" sz="1800" dirty="0"/>
          </a:p>
        </p:txBody>
      </p:sp>
      <p:sp>
        <p:nvSpPr>
          <p:cNvPr id="14" name="Text 11"/>
          <p:cNvSpPr/>
          <p:nvPr/>
        </p:nvSpPr>
        <p:spPr>
          <a:xfrm>
            <a:off x="8686800" y="2651760"/>
            <a:ext cx="2926080" cy="274320"/>
          </a:xfrm>
          <a:prstGeom prst="rect">
            <a:avLst/>
          </a:prstGeom>
          <a:noFill/>
          <a:ln/>
        </p:spPr>
        <p:txBody>
          <a:bodyPr wrap="square" lIns="0" tIns="0" rIns="0" bIns="0" rtlCol="0" anchor="ctr"/>
          <a:lstStyle/>
          <a:p>
            <a:pPr indent="0" marL="0">
              <a:buNone/>
            </a:pPr>
            <a:r>
              <a:rPr lang="en-US" sz="1000" i="1" dirty="0">
                <a:solidFill>
                  <a:srgbClr val="1A1A1A"/>
                </a:solidFill>
                <a:latin typeface="Calibri" pitchFamily="34" charset="0"/>
                <a:ea typeface="Calibri" pitchFamily="34" charset="-122"/>
                <a:cs typeface="Calibri" pitchFamily="34" charset="-120"/>
              </a:rPr>
              <a:t>75.8% drop in a decade</a:t>
            </a:r>
            <a:endParaRPr lang="en-US" sz="1000" dirty="0"/>
          </a:p>
        </p:txBody>
      </p:sp>
      <p:sp>
        <p:nvSpPr>
          <p:cNvPr id="15" name="Text 12"/>
          <p:cNvSpPr/>
          <p:nvPr/>
        </p:nvSpPr>
        <p:spPr>
          <a:xfrm>
            <a:off x="8686800" y="2971800"/>
            <a:ext cx="2926080" cy="274320"/>
          </a:xfrm>
          <a:prstGeom prst="rect">
            <a:avLst/>
          </a:prstGeom>
          <a:noFill/>
          <a:ln/>
        </p:spPr>
        <p:txBody>
          <a:bodyPr wrap="square" lIns="0" tIns="0" rIns="0" bIns="0" rtlCol="0" anchor="ctr"/>
          <a:lstStyle/>
          <a:p>
            <a:pPr indent="0" marL="0">
              <a:buNone/>
            </a:pPr>
            <a:r>
              <a:rPr lang="en-US" sz="1000" b="1" dirty="0">
                <a:solidFill>
                  <a:srgbClr val="5A6068"/>
                </a:solidFill>
                <a:latin typeface="Calibri" pitchFamily="34" charset="0"/>
                <a:ea typeface="Calibri" pitchFamily="34" charset="-122"/>
                <a:cs typeface="Calibri" pitchFamily="34" charset="-120"/>
              </a:rPr>
              <a:t>Debit card</a:t>
            </a:r>
            <a:endParaRPr lang="en-US" sz="1000" dirty="0"/>
          </a:p>
        </p:txBody>
      </p:sp>
      <p:sp>
        <p:nvSpPr>
          <p:cNvPr id="16" name="Text 13"/>
          <p:cNvSpPr/>
          <p:nvPr/>
        </p:nvSpPr>
        <p:spPr>
          <a:xfrm>
            <a:off x="8686800" y="3200400"/>
            <a:ext cx="2926080" cy="411480"/>
          </a:xfrm>
          <a:prstGeom prst="rect">
            <a:avLst/>
          </a:prstGeom>
          <a:noFill/>
          <a:ln/>
        </p:spPr>
        <p:txBody>
          <a:bodyPr wrap="square" lIns="0" tIns="0" rIns="0" bIns="0" rtlCol="0" anchor="ctr"/>
          <a:lstStyle/>
          <a:p>
            <a:pPr indent="0" marL="0">
              <a:buNone/>
            </a:pPr>
            <a:r>
              <a:rPr lang="en-US" sz="1800" b="1" dirty="0">
                <a:solidFill>
                  <a:srgbClr val="4BCD3E"/>
                </a:solidFill>
                <a:latin typeface="Calibri" pitchFamily="34" charset="0"/>
                <a:ea typeface="Calibri" pitchFamily="34" charset="-122"/>
                <a:cs typeface="Calibri" pitchFamily="34" charset="-120"/>
              </a:rPr>
              <a:t>13.4 → 26.1 bn</a:t>
            </a:r>
            <a:endParaRPr lang="en-US" sz="1800" dirty="0"/>
          </a:p>
        </p:txBody>
      </p:sp>
      <p:sp>
        <p:nvSpPr>
          <p:cNvPr id="17" name="Text 14"/>
          <p:cNvSpPr/>
          <p:nvPr/>
        </p:nvSpPr>
        <p:spPr>
          <a:xfrm>
            <a:off x="8686800" y="3611880"/>
            <a:ext cx="2926080" cy="274320"/>
          </a:xfrm>
          <a:prstGeom prst="rect">
            <a:avLst/>
          </a:prstGeom>
          <a:noFill/>
          <a:ln/>
        </p:spPr>
        <p:txBody>
          <a:bodyPr wrap="square" lIns="0" tIns="0" rIns="0" bIns="0" rtlCol="0" anchor="ctr"/>
          <a:lstStyle/>
          <a:p>
            <a:pPr indent="0" marL="0">
              <a:buNone/>
            </a:pPr>
            <a:r>
              <a:rPr lang="en-US" sz="1000" i="1" dirty="0">
                <a:solidFill>
                  <a:srgbClr val="1A1A1A"/>
                </a:solidFill>
                <a:latin typeface="Calibri" pitchFamily="34" charset="0"/>
                <a:ea typeface="Calibri" pitchFamily="34" charset="-122"/>
                <a:cs typeface="Calibri" pitchFamily="34" charset="-120"/>
              </a:rPr>
              <a:t>now the dominant rail</a:t>
            </a:r>
            <a:endParaRPr lang="en-US" sz="1000" dirty="0"/>
          </a:p>
        </p:txBody>
      </p:sp>
      <p:sp>
        <p:nvSpPr>
          <p:cNvPr id="18" name="Text 15"/>
          <p:cNvSpPr/>
          <p:nvPr/>
        </p:nvSpPr>
        <p:spPr>
          <a:xfrm>
            <a:off x="8686800" y="3931920"/>
            <a:ext cx="2926080" cy="274320"/>
          </a:xfrm>
          <a:prstGeom prst="rect">
            <a:avLst/>
          </a:prstGeom>
          <a:noFill/>
          <a:ln/>
        </p:spPr>
        <p:txBody>
          <a:bodyPr wrap="square" lIns="0" tIns="0" rIns="0" bIns="0" rtlCol="0" anchor="ctr"/>
          <a:lstStyle/>
          <a:p>
            <a:pPr indent="0" marL="0">
              <a:buNone/>
            </a:pPr>
            <a:r>
              <a:rPr lang="en-US" sz="1000" b="1" dirty="0">
                <a:solidFill>
                  <a:srgbClr val="5A6068"/>
                </a:solidFill>
                <a:latin typeface="Calibri" pitchFamily="34" charset="0"/>
                <a:ea typeface="Calibri" pitchFamily="34" charset="-122"/>
                <a:cs typeface="Calibri" pitchFamily="34" charset="-120"/>
              </a:rPr>
              <a:t>Contactless</a:t>
            </a:r>
            <a:endParaRPr lang="en-US" sz="1000" dirty="0"/>
          </a:p>
        </p:txBody>
      </p:sp>
      <p:sp>
        <p:nvSpPr>
          <p:cNvPr id="19" name="Text 16"/>
          <p:cNvSpPr/>
          <p:nvPr/>
        </p:nvSpPr>
        <p:spPr>
          <a:xfrm>
            <a:off x="8686800" y="4160520"/>
            <a:ext cx="2926080" cy="411480"/>
          </a:xfrm>
          <a:prstGeom prst="rect">
            <a:avLst/>
          </a:prstGeom>
          <a:noFill/>
          <a:ln/>
        </p:spPr>
        <p:txBody>
          <a:bodyPr wrap="square" lIns="0" tIns="0" rIns="0" bIns="0" rtlCol="0" anchor="ctr"/>
          <a:lstStyle/>
          <a:p>
            <a:pPr indent="0" marL="0">
              <a:buNone/>
            </a:pPr>
            <a:r>
              <a:rPr lang="en-US" sz="1800" b="1" dirty="0">
                <a:solidFill>
                  <a:srgbClr val="4BCD3E"/>
                </a:solidFill>
                <a:latin typeface="Calibri" pitchFamily="34" charset="0"/>
                <a:ea typeface="Calibri" pitchFamily="34" charset="-122"/>
                <a:cs typeface="Calibri" pitchFamily="34" charset="-120"/>
              </a:rPr>
              <a:t>2.3 → 18.9 bn</a:t>
            </a:r>
            <a:endParaRPr lang="en-US" sz="1800" dirty="0"/>
          </a:p>
        </p:txBody>
      </p:sp>
      <p:sp>
        <p:nvSpPr>
          <p:cNvPr id="20" name="Text 17"/>
          <p:cNvSpPr/>
          <p:nvPr/>
        </p:nvSpPr>
        <p:spPr>
          <a:xfrm>
            <a:off x="8686800" y="4572000"/>
            <a:ext cx="2926080" cy="274320"/>
          </a:xfrm>
          <a:prstGeom prst="rect">
            <a:avLst/>
          </a:prstGeom>
          <a:noFill/>
          <a:ln/>
        </p:spPr>
        <p:txBody>
          <a:bodyPr wrap="square" lIns="0" tIns="0" rIns="0" bIns="0" rtlCol="0" anchor="ctr"/>
          <a:lstStyle/>
          <a:p>
            <a:pPr indent="0" marL="0">
              <a:buNone/>
            </a:pPr>
            <a:r>
              <a:rPr lang="en-US" sz="1000" i="1" dirty="0">
                <a:solidFill>
                  <a:srgbClr val="1A1A1A"/>
                </a:solidFill>
                <a:latin typeface="Calibri" pitchFamily="34" charset="0"/>
                <a:ea typeface="Calibri" pitchFamily="34" charset="-122"/>
                <a:cs typeface="Calibri" pitchFamily="34" charset="-120"/>
              </a:rPr>
              <a:t>fastest-growing method</a:t>
            </a:r>
            <a:endParaRPr lang="en-US" sz="1000" dirty="0"/>
          </a:p>
        </p:txBody>
      </p:sp>
      <p:sp>
        <p:nvSpPr>
          <p:cNvPr id="21" name="Text 18"/>
          <p:cNvSpPr/>
          <p:nvPr/>
        </p:nvSpPr>
        <p:spPr>
          <a:xfrm>
            <a:off x="8686800" y="4892040"/>
            <a:ext cx="2926080" cy="274320"/>
          </a:xfrm>
          <a:prstGeom prst="rect">
            <a:avLst/>
          </a:prstGeom>
          <a:noFill/>
          <a:ln/>
        </p:spPr>
        <p:txBody>
          <a:bodyPr wrap="square" lIns="0" tIns="0" rIns="0" bIns="0" rtlCol="0" anchor="ctr"/>
          <a:lstStyle/>
          <a:p>
            <a:pPr indent="0" marL="0">
              <a:buNone/>
            </a:pPr>
            <a:r>
              <a:rPr lang="en-US" sz="1000" b="1" dirty="0">
                <a:solidFill>
                  <a:srgbClr val="5A6068"/>
                </a:solidFill>
                <a:latin typeface="Calibri" pitchFamily="34" charset="0"/>
                <a:ea typeface="Calibri" pitchFamily="34" charset="-122"/>
                <a:cs typeface="Calibri" pitchFamily="34" charset="-120"/>
              </a:rPr>
              <a:t>Faster payments</a:t>
            </a:r>
            <a:endParaRPr lang="en-US" sz="1000" dirty="0"/>
          </a:p>
        </p:txBody>
      </p:sp>
      <p:sp>
        <p:nvSpPr>
          <p:cNvPr id="22" name="Text 19"/>
          <p:cNvSpPr/>
          <p:nvPr/>
        </p:nvSpPr>
        <p:spPr>
          <a:xfrm>
            <a:off x="8686800" y="5120640"/>
            <a:ext cx="2926080" cy="411480"/>
          </a:xfrm>
          <a:prstGeom prst="rect">
            <a:avLst/>
          </a:prstGeom>
          <a:noFill/>
          <a:ln/>
        </p:spPr>
        <p:txBody>
          <a:bodyPr wrap="square" lIns="0" tIns="0" rIns="0" bIns="0" rtlCol="0" anchor="ctr"/>
          <a:lstStyle/>
          <a:p>
            <a:pPr indent="0" marL="0">
              <a:buNone/>
            </a:pPr>
            <a:r>
              <a:rPr lang="en-US" sz="1800" b="1" dirty="0">
                <a:solidFill>
                  <a:srgbClr val="4BCD3E"/>
                </a:solidFill>
                <a:latin typeface="Calibri" pitchFamily="34" charset="0"/>
                <a:ea typeface="Calibri" pitchFamily="34" charset="-122"/>
                <a:cs typeface="Calibri" pitchFamily="34" charset="-120"/>
              </a:rPr>
              <a:t>1.0 → 5.6 bn</a:t>
            </a:r>
            <a:endParaRPr lang="en-US" sz="1800" dirty="0"/>
          </a:p>
        </p:txBody>
      </p:sp>
      <p:sp>
        <p:nvSpPr>
          <p:cNvPr id="23" name="Text 20"/>
          <p:cNvSpPr/>
          <p:nvPr/>
        </p:nvSpPr>
        <p:spPr>
          <a:xfrm>
            <a:off x="8686800" y="5532120"/>
            <a:ext cx="2926080" cy="274320"/>
          </a:xfrm>
          <a:prstGeom prst="rect">
            <a:avLst/>
          </a:prstGeom>
          <a:noFill/>
          <a:ln/>
        </p:spPr>
        <p:txBody>
          <a:bodyPr wrap="square" lIns="0" tIns="0" rIns="0" bIns="0" rtlCol="0" anchor="ctr"/>
          <a:lstStyle/>
          <a:p>
            <a:pPr indent="0" marL="0">
              <a:buNone/>
            </a:pPr>
            <a:r>
              <a:rPr lang="en-US" sz="1000" i="1" dirty="0">
                <a:solidFill>
                  <a:srgbClr val="1A1A1A"/>
                </a:solidFill>
                <a:latin typeface="Calibri" pitchFamily="34" charset="0"/>
                <a:ea typeface="Calibri" pitchFamily="34" charset="-122"/>
                <a:cs typeface="Calibri" pitchFamily="34" charset="-120"/>
              </a:rPr>
              <a:t>underpins digital banking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709422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7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Drivers and inflection points</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Where structural change accelerated</a:t>
            </a:r>
            <a:endParaRPr lang="en-US" sz="1300" dirty="0"/>
          </a:p>
        </p:txBody>
      </p:sp>
      <p:sp>
        <p:nvSpPr>
          <p:cNvPr id="9" name="Shape 7"/>
          <p:cNvSpPr/>
          <p:nvPr/>
        </p:nvSpPr>
        <p:spPr>
          <a:xfrm>
            <a:off x="1463040" y="3840480"/>
            <a:ext cx="9875520" cy="0"/>
          </a:xfrm>
          <a:prstGeom prst="line">
            <a:avLst/>
          </a:prstGeom>
          <a:noFill/>
          <a:ln w="38100">
            <a:solidFill>
              <a:srgbClr val="012834"/>
            </a:solidFill>
            <a:prstDash val="solid"/>
          </a:ln>
        </p:spPr>
      </p:sp>
      <p:sp>
        <p:nvSpPr>
          <p:cNvPr id="10" name="Shape 8"/>
          <p:cNvSpPr/>
          <p:nvPr/>
        </p:nvSpPr>
        <p:spPr>
          <a:xfrm>
            <a:off x="2313432" y="3703320"/>
            <a:ext cx="274320" cy="274320"/>
          </a:xfrm>
          <a:prstGeom prst="ellipse">
            <a:avLst/>
          </a:prstGeom>
          <a:solidFill>
            <a:srgbClr val="4BCD3E"/>
          </a:solidFill>
          <a:ln w="25400">
            <a:solidFill>
              <a:srgbClr val="012834"/>
            </a:solidFill>
            <a:prstDash val="solid"/>
          </a:ln>
        </p:spPr>
      </p:sp>
      <p:sp>
        <p:nvSpPr>
          <p:cNvPr id="11" name="Shape 9"/>
          <p:cNvSpPr/>
          <p:nvPr/>
        </p:nvSpPr>
        <p:spPr>
          <a:xfrm>
            <a:off x="2450592" y="3200400"/>
            <a:ext cx="0" cy="502920"/>
          </a:xfrm>
          <a:prstGeom prst="line">
            <a:avLst/>
          </a:prstGeom>
          <a:noFill/>
          <a:ln w="12700">
            <a:solidFill>
              <a:srgbClr val="4BCD3E"/>
            </a:solidFill>
            <a:prstDash val="dash"/>
          </a:ln>
        </p:spPr>
      </p:sp>
      <p:sp>
        <p:nvSpPr>
          <p:cNvPr id="12" name="Shape 10"/>
          <p:cNvSpPr/>
          <p:nvPr/>
        </p:nvSpPr>
        <p:spPr>
          <a:xfrm>
            <a:off x="1078992" y="1874520"/>
            <a:ext cx="2743200" cy="1325880"/>
          </a:xfrm>
          <a:prstGeom prst="rect">
            <a:avLst/>
          </a:prstGeom>
          <a:solidFill>
            <a:srgbClr val="FFFFFF"/>
          </a:solidFill>
          <a:ln w="9525">
            <a:solidFill>
              <a:srgbClr val="D6D6D6"/>
            </a:solidFill>
            <a:prstDash val="solid"/>
          </a:ln>
        </p:spPr>
      </p:sp>
      <p:sp>
        <p:nvSpPr>
          <p:cNvPr id="13" name="Shape 11"/>
          <p:cNvSpPr/>
          <p:nvPr/>
        </p:nvSpPr>
        <p:spPr>
          <a:xfrm>
            <a:off x="1078992" y="1874520"/>
            <a:ext cx="2743200" cy="54864"/>
          </a:xfrm>
          <a:prstGeom prst="rect">
            <a:avLst/>
          </a:prstGeom>
          <a:solidFill>
            <a:srgbClr val="4BCD3E"/>
          </a:solidFill>
          <a:ln w="12700">
            <a:solidFill>
              <a:srgbClr val="4BCD3E"/>
            </a:solidFill>
            <a:prstDash val="solid"/>
          </a:ln>
        </p:spPr>
      </p:sp>
      <p:sp>
        <p:nvSpPr>
          <p:cNvPr id="14" name="Text 12"/>
          <p:cNvSpPr/>
          <p:nvPr/>
        </p:nvSpPr>
        <p:spPr>
          <a:xfrm>
            <a:off x="1216152" y="1965960"/>
            <a:ext cx="914400" cy="320040"/>
          </a:xfrm>
          <a:prstGeom prst="rect">
            <a:avLst/>
          </a:prstGeom>
          <a:noFill/>
          <a:ln/>
        </p:spPr>
        <p:txBody>
          <a:bodyPr wrap="square" lIns="0" tIns="0" rIns="0" bIns="0" rtlCol="0" anchor="ctr"/>
          <a:lstStyle/>
          <a:p>
            <a:pPr indent="0" marL="0">
              <a:buNone/>
            </a:pPr>
            <a:r>
              <a:rPr lang="en-US" sz="1600" b="1" dirty="0">
                <a:solidFill>
                  <a:srgbClr val="4BCD3E"/>
                </a:solidFill>
                <a:latin typeface="Calibri" pitchFamily="34" charset="0"/>
                <a:ea typeface="Calibri" pitchFamily="34" charset="-122"/>
                <a:cs typeface="Calibri" pitchFamily="34" charset="-120"/>
              </a:rPr>
              <a:t>2008</a:t>
            </a:r>
            <a:endParaRPr lang="en-US" sz="1600" dirty="0"/>
          </a:p>
        </p:txBody>
      </p:sp>
      <p:sp>
        <p:nvSpPr>
          <p:cNvPr id="15" name="Text 13"/>
          <p:cNvSpPr/>
          <p:nvPr/>
        </p:nvSpPr>
        <p:spPr>
          <a:xfrm>
            <a:off x="1216152" y="2258568"/>
            <a:ext cx="2468880" cy="292608"/>
          </a:xfrm>
          <a:prstGeom prst="rect">
            <a:avLst/>
          </a:prstGeom>
          <a:noFill/>
          <a:ln/>
        </p:spPr>
        <p:txBody>
          <a:bodyPr wrap="square" lIns="0" tIns="0" rIns="0" bIns="0" rtlCol="0" anchor="ctr"/>
          <a:lstStyle/>
          <a:p>
            <a:pPr indent="0" marL="0">
              <a:buNone/>
            </a:pPr>
            <a:r>
              <a:rPr lang="en-US" sz="1200" b="1" dirty="0">
                <a:solidFill>
                  <a:srgbClr val="012834"/>
                </a:solidFill>
                <a:latin typeface="Calibri" pitchFamily="34" charset="0"/>
                <a:ea typeface="Calibri" pitchFamily="34" charset="-122"/>
                <a:cs typeface="Calibri" pitchFamily="34" charset="-120"/>
              </a:rPr>
              <a:t>Financial crisis</a:t>
            </a:r>
            <a:endParaRPr lang="en-US" sz="1200" dirty="0"/>
          </a:p>
        </p:txBody>
      </p:sp>
      <p:sp>
        <p:nvSpPr>
          <p:cNvPr id="16" name="Text 14"/>
          <p:cNvSpPr/>
          <p:nvPr/>
        </p:nvSpPr>
        <p:spPr>
          <a:xfrm>
            <a:off x="1216152" y="2569464"/>
            <a:ext cx="2468880"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Trust shock plus regulatory tightening accelerates branch consolidation.</a:t>
            </a:r>
            <a:endParaRPr lang="en-US" sz="1000" dirty="0"/>
          </a:p>
        </p:txBody>
      </p:sp>
      <p:sp>
        <p:nvSpPr>
          <p:cNvPr id="17" name="Shape 15"/>
          <p:cNvSpPr/>
          <p:nvPr/>
        </p:nvSpPr>
        <p:spPr>
          <a:xfrm>
            <a:off x="5078578" y="3703320"/>
            <a:ext cx="274320" cy="274320"/>
          </a:xfrm>
          <a:prstGeom prst="ellipse">
            <a:avLst/>
          </a:prstGeom>
          <a:solidFill>
            <a:srgbClr val="4BCD3E"/>
          </a:solidFill>
          <a:ln w="25400">
            <a:solidFill>
              <a:srgbClr val="012834"/>
            </a:solidFill>
            <a:prstDash val="solid"/>
          </a:ln>
        </p:spPr>
      </p:sp>
      <p:sp>
        <p:nvSpPr>
          <p:cNvPr id="18" name="Shape 16"/>
          <p:cNvSpPr/>
          <p:nvPr/>
        </p:nvSpPr>
        <p:spPr>
          <a:xfrm>
            <a:off x="5215738" y="3977640"/>
            <a:ext cx="0" cy="502920"/>
          </a:xfrm>
          <a:prstGeom prst="line">
            <a:avLst/>
          </a:prstGeom>
          <a:noFill/>
          <a:ln w="12700">
            <a:solidFill>
              <a:srgbClr val="4BCD3E"/>
            </a:solidFill>
            <a:prstDash val="dash"/>
          </a:ln>
        </p:spPr>
      </p:sp>
      <p:sp>
        <p:nvSpPr>
          <p:cNvPr id="19" name="Shape 17"/>
          <p:cNvSpPr/>
          <p:nvPr/>
        </p:nvSpPr>
        <p:spPr>
          <a:xfrm>
            <a:off x="3844138" y="4480560"/>
            <a:ext cx="2743200" cy="1325880"/>
          </a:xfrm>
          <a:prstGeom prst="rect">
            <a:avLst/>
          </a:prstGeom>
          <a:solidFill>
            <a:srgbClr val="FFFFFF"/>
          </a:solidFill>
          <a:ln w="9525">
            <a:solidFill>
              <a:srgbClr val="D6D6D6"/>
            </a:solidFill>
            <a:prstDash val="solid"/>
          </a:ln>
        </p:spPr>
      </p:sp>
      <p:sp>
        <p:nvSpPr>
          <p:cNvPr id="20" name="Shape 18"/>
          <p:cNvSpPr/>
          <p:nvPr/>
        </p:nvSpPr>
        <p:spPr>
          <a:xfrm>
            <a:off x="3844138" y="4480560"/>
            <a:ext cx="2743200" cy="54864"/>
          </a:xfrm>
          <a:prstGeom prst="rect">
            <a:avLst/>
          </a:prstGeom>
          <a:solidFill>
            <a:srgbClr val="4BCD3E"/>
          </a:solidFill>
          <a:ln w="12700">
            <a:solidFill>
              <a:srgbClr val="4BCD3E"/>
            </a:solidFill>
            <a:prstDash val="solid"/>
          </a:ln>
        </p:spPr>
      </p:sp>
      <p:sp>
        <p:nvSpPr>
          <p:cNvPr id="21" name="Text 19"/>
          <p:cNvSpPr/>
          <p:nvPr/>
        </p:nvSpPr>
        <p:spPr>
          <a:xfrm>
            <a:off x="3981298" y="4572000"/>
            <a:ext cx="914400" cy="320040"/>
          </a:xfrm>
          <a:prstGeom prst="rect">
            <a:avLst/>
          </a:prstGeom>
          <a:noFill/>
          <a:ln/>
        </p:spPr>
        <p:txBody>
          <a:bodyPr wrap="square" lIns="0" tIns="0" rIns="0" bIns="0" rtlCol="0" anchor="ctr"/>
          <a:lstStyle/>
          <a:p>
            <a:pPr indent="0" marL="0">
              <a:buNone/>
            </a:pPr>
            <a:r>
              <a:rPr lang="en-US" sz="1600" b="1" dirty="0">
                <a:solidFill>
                  <a:srgbClr val="4BCD3E"/>
                </a:solidFill>
                <a:latin typeface="Calibri" pitchFamily="34" charset="0"/>
                <a:ea typeface="Calibri" pitchFamily="34" charset="-122"/>
                <a:cs typeface="Calibri" pitchFamily="34" charset="-120"/>
              </a:rPr>
              <a:t>2015</a:t>
            </a:r>
            <a:endParaRPr lang="en-US" sz="1600" dirty="0"/>
          </a:p>
        </p:txBody>
      </p:sp>
      <p:sp>
        <p:nvSpPr>
          <p:cNvPr id="22" name="Text 20"/>
          <p:cNvSpPr/>
          <p:nvPr/>
        </p:nvSpPr>
        <p:spPr>
          <a:xfrm>
            <a:off x="3981298" y="4864608"/>
            <a:ext cx="2468880" cy="292608"/>
          </a:xfrm>
          <a:prstGeom prst="rect">
            <a:avLst/>
          </a:prstGeom>
          <a:noFill/>
          <a:ln/>
        </p:spPr>
        <p:txBody>
          <a:bodyPr wrap="square" lIns="0" tIns="0" rIns="0" bIns="0" rtlCol="0" anchor="ctr"/>
          <a:lstStyle/>
          <a:p>
            <a:pPr indent="0" marL="0">
              <a:buNone/>
            </a:pPr>
            <a:r>
              <a:rPr lang="en-US" sz="1200" b="1" dirty="0">
                <a:solidFill>
                  <a:srgbClr val="012834"/>
                </a:solidFill>
                <a:latin typeface="Calibri" pitchFamily="34" charset="0"/>
                <a:ea typeface="Calibri" pitchFamily="34" charset="-122"/>
                <a:cs typeface="Calibri" pitchFamily="34" charset="-120"/>
              </a:rPr>
              <a:t>Contactless adoption</a:t>
            </a:r>
            <a:endParaRPr lang="en-US" sz="1200" dirty="0"/>
          </a:p>
        </p:txBody>
      </p:sp>
      <p:sp>
        <p:nvSpPr>
          <p:cNvPr id="23" name="Text 21"/>
          <p:cNvSpPr/>
          <p:nvPr/>
        </p:nvSpPr>
        <p:spPr>
          <a:xfrm>
            <a:off x="3981298" y="5175504"/>
            <a:ext cx="2468880"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+170% YoY growth — the inflection from card-present to tap-and-go.</a:t>
            </a:r>
            <a:endParaRPr lang="en-US" sz="1000" dirty="0"/>
          </a:p>
        </p:txBody>
      </p:sp>
      <p:sp>
        <p:nvSpPr>
          <p:cNvPr id="24" name="Shape 22"/>
          <p:cNvSpPr/>
          <p:nvPr/>
        </p:nvSpPr>
        <p:spPr>
          <a:xfrm>
            <a:off x="7744968" y="3703320"/>
            <a:ext cx="274320" cy="274320"/>
          </a:xfrm>
          <a:prstGeom prst="ellipse">
            <a:avLst/>
          </a:prstGeom>
          <a:solidFill>
            <a:srgbClr val="4BCD3E"/>
          </a:solidFill>
          <a:ln w="25400">
            <a:solidFill>
              <a:srgbClr val="012834"/>
            </a:solidFill>
            <a:prstDash val="solid"/>
          </a:ln>
        </p:spPr>
      </p:sp>
      <p:sp>
        <p:nvSpPr>
          <p:cNvPr id="25" name="Shape 23"/>
          <p:cNvSpPr/>
          <p:nvPr/>
        </p:nvSpPr>
        <p:spPr>
          <a:xfrm>
            <a:off x="7882128" y="3200400"/>
            <a:ext cx="0" cy="502920"/>
          </a:xfrm>
          <a:prstGeom prst="line">
            <a:avLst/>
          </a:prstGeom>
          <a:noFill/>
          <a:ln w="12700">
            <a:solidFill>
              <a:srgbClr val="4BCD3E"/>
            </a:solidFill>
            <a:prstDash val="dash"/>
          </a:ln>
        </p:spPr>
      </p:sp>
      <p:sp>
        <p:nvSpPr>
          <p:cNvPr id="26" name="Shape 24"/>
          <p:cNvSpPr/>
          <p:nvPr/>
        </p:nvSpPr>
        <p:spPr>
          <a:xfrm>
            <a:off x="6510528" y="1874520"/>
            <a:ext cx="2743200" cy="1325880"/>
          </a:xfrm>
          <a:prstGeom prst="rect">
            <a:avLst/>
          </a:prstGeom>
          <a:solidFill>
            <a:srgbClr val="FFFFFF"/>
          </a:solidFill>
          <a:ln w="9525">
            <a:solidFill>
              <a:srgbClr val="D6D6D6"/>
            </a:solidFill>
            <a:prstDash val="solid"/>
          </a:ln>
        </p:spPr>
      </p:sp>
      <p:sp>
        <p:nvSpPr>
          <p:cNvPr id="27" name="Shape 25"/>
          <p:cNvSpPr/>
          <p:nvPr/>
        </p:nvSpPr>
        <p:spPr>
          <a:xfrm>
            <a:off x="6510528" y="1874520"/>
            <a:ext cx="2743200" cy="54864"/>
          </a:xfrm>
          <a:prstGeom prst="rect">
            <a:avLst/>
          </a:prstGeom>
          <a:solidFill>
            <a:srgbClr val="4BCD3E"/>
          </a:solidFill>
          <a:ln w="12700">
            <a:solidFill>
              <a:srgbClr val="4BCD3E"/>
            </a:solidFill>
            <a:prstDash val="solid"/>
          </a:ln>
        </p:spPr>
      </p:sp>
      <p:sp>
        <p:nvSpPr>
          <p:cNvPr id="28" name="Text 26"/>
          <p:cNvSpPr/>
          <p:nvPr/>
        </p:nvSpPr>
        <p:spPr>
          <a:xfrm>
            <a:off x="6647688" y="1965960"/>
            <a:ext cx="914400" cy="320040"/>
          </a:xfrm>
          <a:prstGeom prst="rect">
            <a:avLst/>
          </a:prstGeom>
          <a:noFill/>
          <a:ln/>
        </p:spPr>
        <p:txBody>
          <a:bodyPr wrap="square" lIns="0" tIns="0" rIns="0" bIns="0" rtlCol="0" anchor="ctr"/>
          <a:lstStyle/>
          <a:p>
            <a:pPr indent="0" marL="0">
              <a:buNone/>
            </a:pPr>
            <a:r>
              <a:rPr lang="en-US" sz="1600" b="1" dirty="0">
                <a:solidFill>
                  <a:srgbClr val="4BCD3E"/>
                </a:solidFill>
                <a:latin typeface="Calibri" pitchFamily="34" charset="0"/>
                <a:ea typeface="Calibri" pitchFamily="34" charset="-122"/>
                <a:cs typeface="Calibri" pitchFamily="34" charset="-120"/>
              </a:rPr>
              <a:t>2020</a:t>
            </a:r>
            <a:endParaRPr lang="en-US" sz="1600" dirty="0"/>
          </a:p>
        </p:txBody>
      </p:sp>
      <p:sp>
        <p:nvSpPr>
          <p:cNvPr id="29" name="Text 27"/>
          <p:cNvSpPr/>
          <p:nvPr/>
        </p:nvSpPr>
        <p:spPr>
          <a:xfrm>
            <a:off x="6647688" y="2258568"/>
            <a:ext cx="2468880" cy="292608"/>
          </a:xfrm>
          <a:prstGeom prst="rect">
            <a:avLst/>
          </a:prstGeom>
          <a:noFill/>
          <a:ln/>
        </p:spPr>
        <p:txBody>
          <a:bodyPr wrap="square" lIns="0" tIns="0" rIns="0" bIns="0" rtlCol="0" anchor="ctr"/>
          <a:lstStyle/>
          <a:p>
            <a:pPr indent="0" marL="0">
              <a:buNone/>
            </a:pPr>
            <a:r>
              <a:rPr lang="en-US" sz="1200" b="1" dirty="0">
                <a:solidFill>
                  <a:srgbClr val="012834"/>
                </a:solidFill>
                <a:latin typeface="Calibri" pitchFamily="34" charset="0"/>
                <a:ea typeface="Calibri" pitchFamily="34" charset="-122"/>
                <a:cs typeface="Calibri" pitchFamily="34" charset="-120"/>
              </a:rPr>
              <a:t>COVID-19 step-change</a:t>
            </a:r>
            <a:endParaRPr lang="en-US" sz="1200" dirty="0"/>
          </a:p>
        </p:txBody>
      </p:sp>
      <p:sp>
        <p:nvSpPr>
          <p:cNvPr id="30" name="Text 28"/>
          <p:cNvSpPr/>
          <p:nvPr/>
        </p:nvSpPr>
        <p:spPr>
          <a:xfrm>
            <a:off x="6647688" y="2569464"/>
            <a:ext cx="2468880"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Cash falls 51% in one year. Behavioural shift did not revert.</a:t>
            </a:r>
            <a:endParaRPr lang="en-US" sz="1000" dirty="0"/>
          </a:p>
        </p:txBody>
      </p:sp>
      <p:sp>
        <p:nvSpPr>
          <p:cNvPr id="31" name="Shape 29"/>
          <p:cNvSpPr/>
          <p:nvPr/>
        </p:nvSpPr>
        <p:spPr>
          <a:xfrm>
            <a:off x="9720072" y="3703320"/>
            <a:ext cx="274320" cy="274320"/>
          </a:xfrm>
          <a:prstGeom prst="ellipse">
            <a:avLst/>
          </a:prstGeom>
          <a:solidFill>
            <a:srgbClr val="4BCD3E"/>
          </a:solidFill>
          <a:ln w="25400">
            <a:solidFill>
              <a:srgbClr val="012834"/>
            </a:solidFill>
            <a:prstDash val="solid"/>
          </a:ln>
        </p:spPr>
      </p:sp>
      <p:sp>
        <p:nvSpPr>
          <p:cNvPr id="32" name="Shape 30"/>
          <p:cNvSpPr/>
          <p:nvPr/>
        </p:nvSpPr>
        <p:spPr>
          <a:xfrm>
            <a:off x="9857232" y="3977640"/>
            <a:ext cx="0" cy="502920"/>
          </a:xfrm>
          <a:prstGeom prst="line">
            <a:avLst/>
          </a:prstGeom>
          <a:noFill/>
          <a:ln w="12700">
            <a:solidFill>
              <a:srgbClr val="4BCD3E"/>
            </a:solidFill>
            <a:prstDash val="dash"/>
          </a:ln>
        </p:spPr>
      </p:sp>
      <p:sp>
        <p:nvSpPr>
          <p:cNvPr id="33" name="Shape 31"/>
          <p:cNvSpPr/>
          <p:nvPr/>
        </p:nvSpPr>
        <p:spPr>
          <a:xfrm>
            <a:off x="8485632" y="4480560"/>
            <a:ext cx="2743200" cy="1325880"/>
          </a:xfrm>
          <a:prstGeom prst="rect">
            <a:avLst/>
          </a:prstGeom>
          <a:solidFill>
            <a:srgbClr val="FFFFFF"/>
          </a:solidFill>
          <a:ln w="9525">
            <a:solidFill>
              <a:srgbClr val="D6D6D6"/>
            </a:solidFill>
            <a:prstDash val="solid"/>
          </a:ln>
        </p:spPr>
      </p:sp>
      <p:sp>
        <p:nvSpPr>
          <p:cNvPr id="34" name="Shape 32"/>
          <p:cNvSpPr/>
          <p:nvPr/>
        </p:nvSpPr>
        <p:spPr>
          <a:xfrm>
            <a:off x="8485632" y="4480560"/>
            <a:ext cx="2743200" cy="54864"/>
          </a:xfrm>
          <a:prstGeom prst="rect">
            <a:avLst/>
          </a:prstGeom>
          <a:solidFill>
            <a:srgbClr val="4BCD3E"/>
          </a:solidFill>
          <a:ln w="12700">
            <a:solidFill>
              <a:srgbClr val="4BCD3E"/>
            </a:solidFill>
            <a:prstDash val="solid"/>
          </a:ln>
        </p:spPr>
      </p:sp>
      <p:sp>
        <p:nvSpPr>
          <p:cNvPr id="35" name="Text 33"/>
          <p:cNvSpPr/>
          <p:nvPr/>
        </p:nvSpPr>
        <p:spPr>
          <a:xfrm>
            <a:off x="8622792" y="4572000"/>
            <a:ext cx="914400" cy="320040"/>
          </a:xfrm>
          <a:prstGeom prst="rect">
            <a:avLst/>
          </a:prstGeom>
          <a:noFill/>
          <a:ln/>
        </p:spPr>
        <p:txBody>
          <a:bodyPr wrap="square" lIns="0" tIns="0" rIns="0" bIns="0" rtlCol="0" anchor="ctr"/>
          <a:lstStyle/>
          <a:p>
            <a:pPr indent="0" marL="0">
              <a:buNone/>
            </a:pPr>
            <a:r>
              <a:rPr lang="en-US" sz="1600" b="1" dirty="0">
                <a:solidFill>
                  <a:srgbClr val="4BCD3E"/>
                </a:solidFill>
                <a:latin typeface="Calibri" pitchFamily="34" charset="0"/>
                <a:ea typeface="Calibri" pitchFamily="34" charset="-122"/>
                <a:cs typeface="Calibri" pitchFamily="34" charset="-120"/>
              </a:rPr>
              <a:t>2022</a:t>
            </a:r>
            <a:endParaRPr lang="en-US" sz="1600" dirty="0"/>
          </a:p>
        </p:txBody>
      </p:sp>
      <p:sp>
        <p:nvSpPr>
          <p:cNvPr id="36" name="Text 34"/>
          <p:cNvSpPr/>
          <p:nvPr/>
        </p:nvSpPr>
        <p:spPr>
          <a:xfrm>
            <a:off x="8622792" y="4864608"/>
            <a:ext cx="2468880" cy="292608"/>
          </a:xfrm>
          <a:prstGeom prst="rect">
            <a:avLst/>
          </a:prstGeom>
          <a:noFill/>
          <a:ln/>
        </p:spPr>
        <p:txBody>
          <a:bodyPr wrap="square" lIns="0" tIns="0" rIns="0" bIns="0" rtlCol="0" anchor="ctr"/>
          <a:lstStyle/>
          <a:p>
            <a:pPr indent="0" marL="0">
              <a:buNone/>
            </a:pPr>
            <a:r>
              <a:rPr lang="en-US" sz="1200" b="1" dirty="0">
                <a:solidFill>
                  <a:srgbClr val="012834"/>
                </a:solidFill>
                <a:latin typeface="Calibri" pitchFamily="34" charset="0"/>
                <a:ea typeface="Calibri" pitchFamily="34" charset="-122"/>
                <a:cs typeface="Calibri" pitchFamily="34" charset="-120"/>
              </a:rPr>
              <a:t>Rate rises</a:t>
            </a:r>
            <a:endParaRPr lang="en-US" sz="1200" dirty="0"/>
          </a:p>
        </p:txBody>
      </p:sp>
      <p:sp>
        <p:nvSpPr>
          <p:cNvPr id="37" name="Text 35"/>
          <p:cNvSpPr/>
          <p:nvPr/>
        </p:nvSpPr>
        <p:spPr>
          <a:xfrm>
            <a:off x="8622792" y="5175504"/>
            <a:ext cx="2468880" cy="59436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Deposits surge as macro policy tightens — supports the ARDL specification.</a:t>
            </a:r>
            <a:endParaRPr lang="en-US" sz="1000" dirty="0"/>
          </a:p>
        </p:txBody>
      </p:sp>
      <p:sp>
        <p:nvSpPr>
          <p:cNvPr id="38" name="Text 36"/>
          <p:cNvSpPr/>
          <p:nvPr/>
        </p:nvSpPr>
        <p:spPr>
          <a:xfrm>
            <a:off x="914400" y="3703320"/>
            <a:ext cx="457200" cy="274320"/>
          </a:xfrm>
          <a:prstGeom prst="rect">
            <a:avLst/>
          </a:prstGeom>
          <a:noFill/>
          <a:ln/>
        </p:spPr>
        <p:txBody>
          <a:bodyPr wrap="square" lIns="0" tIns="0" rIns="0" bIns="0" rtlCol="0" anchor="ctr"/>
          <a:lstStyle/>
          <a:p>
            <a:pPr algn="r" indent="0" marL="0">
              <a:buNone/>
            </a:pPr>
            <a:r>
              <a:rPr lang="en-US" sz="1000" dirty="0">
                <a:solidFill>
                  <a:srgbClr val="5A6068"/>
                </a:solidFill>
                <a:latin typeface="Calibri" pitchFamily="34" charset="0"/>
                <a:ea typeface="Calibri" pitchFamily="34" charset="-122"/>
                <a:cs typeface="Calibri" pitchFamily="34" charset="-120"/>
              </a:rPr>
              <a:t>2000</a:t>
            </a:r>
            <a:endParaRPr lang="en-US" sz="1000" dirty="0"/>
          </a:p>
        </p:txBody>
      </p:sp>
      <p:sp>
        <p:nvSpPr>
          <p:cNvPr id="39" name="Text 37"/>
          <p:cNvSpPr/>
          <p:nvPr/>
        </p:nvSpPr>
        <p:spPr>
          <a:xfrm>
            <a:off x="11430000" y="3703320"/>
            <a:ext cx="457200" cy="274320"/>
          </a:xfrm>
          <a:prstGeom prst="rect">
            <a:avLst/>
          </a:prstGeom>
          <a:noFill/>
          <a:ln/>
        </p:spPr>
        <p:txBody>
          <a:bodyPr wrap="square" lIns="0" tIns="0" rIns="0" bIns="0" rtlCol="0" anchor="ctr"/>
          <a:lstStyle/>
          <a:p>
            <a:pPr indent="0" marL="0">
              <a:buNone/>
            </a:pPr>
            <a:r>
              <a:rPr lang="en-US" sz="1000" dirty="0">
                <a:solidFill>
                  <a:srgbClr val="5A6068"/>
                </a:solidFill>
                <a:latin typeface="Calibri" pitchFamily="34" charset="0"/>
                <a:ea typeface="Calibri" pitchFamily="34" charset="-122"/>
                <a:cs typeface="Calibri" pitchFamily="34" charset="-120"/>
              </a:rPr>
              <a:t>2025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810768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8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10-year forecasts to 2034</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Three scenarios, calibrated by scientific priors</a:t>
            </a:r>
            <a:endParaRPr lang="en-US" sz="1300" dirty="0"/>
          </a:p>
        </p:txBody>
      </p:sp>
      <p:pic>
        <p:nvPicPr>
          <p:cNvPr id="9" name="Image 0" descr="/mnt/user-data/outputs/charts_forecast/06_cash_volume.png">    </p:cNvPr>
          <p:cNvPicPr>
            <a:picLocks noChangeAspect="1"/>
          </p:cNvPicPr>
          <p:nvPr/>
        </p:nvPicPr>
        <p:blipFill>
          <a:blip r:embed="rId1"/>
          <a:stretch>
            <a:fillRect/>
          </a:stretch>
        </p:blipFill>
        <p:spPr>
          <a:xfrm>
            <a:off x="502920" y="1463040"/>
            <a:ext cx="5852160" cy="3108960"/>
          </a:xfrm>
          <a:prstGeom prst="rect">
            <a:avLst/>
          </a:prstGeom>
        </p:spPr>
      </p:pic>
      <p:pic>
        <p:nvPicPr>
          <p:cNvPr id="10" name="Image 1" descr="/mnt/user-data/outputs/charts_forecast/15_mobile_wallet.png">    </p:cNvPr>
          <p:cNvPicPr>
            <a:picLocks noChangeAspect="1"/>
          </p:cNvPicPr>
          <p:nvPr/>
        </p:nvPicPr>
        <p:blipFill>
          <a:blip r:embed="rId2"/>
          <a:stretch>
            <a:fillRect/>
          </a:stretch>
        </p:blipFill>
        <p:spPr>
          <a:xfrm>
            <a:off x="6492240" y="1463040"/>
            <a:ext cx="5257800" cy="3108960"/>
          </a:xfrm>
          <a:prstGeom prst="rect">
            <a:avLst/>
          </a:prstGeom>
        </p:spPr>
      </p:pic>
      <p:sp>
        <p:nvSpPr>
          <p:cNvPr id="11" name="Shape 7"/>
          <p:cNvSpPr/>
          <p:nvPr/>
        </p:nvSpPr>
        <p:spPr>
          <a:xfrm>
            <a:off x="502920" y="4754880"/>
            <a:ext cx="3703320" cy="1600200"/>
          </a:xfrm>
          <a:prstGeom prst="rect">
            <a:avLst/>
          </a:prstGeom>
          <a:solidFill>
            <a:srgbClr val="012834"/>
          </a:solidFill>
          <a:ln w="12700">
            <a:solidFill>
              <a:srgbClr val="012834"/>
            </a:solidFill>
            <a:prstDash val="solid"/>
          </a:ln>
        </p:spPr>
      </p:sp>
      <p:sp>
        <p:nvSpPr>
          <p:cNvPr id="12" name="Text 8"/>
          <p:cNvSpPr/>
          <p:nvPr/>
        </p:nvSpPr>
        <p:spPr>
          <a:xfrm>
            <a:off x="731520" y="4892040"/>
            <a:ext cx="3246120" cy="640080"/>
          </a:xfrm>
          <a:prstGeom prst="rect">
            <a:avLst/>
          </a:prstGeom>
          <a:noFill/>
          <a:ln/>
        </p:spPr>
        <p:txBody>
          <a:bodyPr wrap="square" lIns="0" tIns="0" rIns="0" bIns="0" rtlCol="0" anchor="ctr"/>
          <a:lstStyle/>
          <a:p>
            <a:pPr indent="0" marL="0">
              <a:buNone/>
            </a:pPr>
            <a:r>
              <a:rPr lang="en-US" sz="3000" b="1" dirty="0">
                <a:solidFill>
                  <a:srgbClr val="4BCD3E"/>
                </a:solidFill>
                <a:latin typeface="Calibri" pitchFamily="34" charset="0"/>
                <a:ea typeface="Calibri" pitchFamily="34" charset="-122"/>
                <a:cs typeface="Calibri" pitchFamily="34" charset="-120"/>
              </a:rPr>
              <a:t>2.6 bn</a:t>
            </a:r>
            <a:endParaRPr lang="en-US" sz="3000" dirty="0"/>
          </a:p>
        </p:txBody>
      </p:sp>
      <p:sp>
        <p:nvSpPr>
          <p:cNvPr id="13" name="Text 9"/>
          <p:cNvSpPr/>
          <p:nvPr/>
        </p:nvSpPr>
        <p:spPr>
          <a:xfrm>
            <a:off x="731520" y="5623560"/>
            <a:ext cx="324612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Cash transactions per year, 2034 Base</a:t>
            </a:r>
            <a:endParaRPr lang="en-US" sz="1100" dirty="0"/>
          </a:p>
        </p:txBody>
      </p:sp>
      <p:sp>
        <p:nvSpPr>
          <p:cNvPr id="14" name="Text 10"/>
          <p:cNvSpPr/>
          <p:nvPr/>
        </p:nvSpPr>
        <p:spPr>
          <a:xfrm>
            <a:off x="731520" y="6080760"/>
            <a:ext cx="3246120" cy="274320"/>
          </a:xfrm>
          <a:prstGeom prst="rect">
            <a:avLst/>
          </a:prstGeom>
          <a:noFill/>
          <a:ln/>
        </p:spPr>
        <p:txBody>
          <a:bodyPr wrap="square" lIns="0" tIns="0" rIns="0" bIns="0" rtlCol="0" anchor="ctr"/>
          <a:lstStyle/>
          <a:p>
            <a:pPr indent="0" marL="0">
              <a:buNone/>
            </a:pPr>
            <a:r>
              <a:rPr lang="en-US" sz="900" i="1" dirty="0">
                <a:solidFill>
                  <a:srgbClr val="9BC9A1"/>
                </a:solidFill>
                <a:latin typeface="Calibri" pitchFamily="34" charset="0"/>
                <a:ea typeface="Calibri" pitchFamily="34" charset="-122"/>
                <a:cs typeface="Calibri" pitchFamily="34" charset="-120"/>
              </a:rPr>
              <a:t>Floored exponential decline</a:t>
            </a:r>
            <a:endParaRPr lang="en-US" sz="900" dirty="0"/>
          </a:p>
        </p:txBody>
      </p:sp>
      <p:sp>
        <p:nvSpPr>
          <p:cNvPr id="15" name="Shape 11"/>
          <p:cNvSpPr/>
          <p:nvPr/>
        </p:nvSpPr>
        <p:spPr>
          <a:xfrm>
            <a:off x="4370832" y="4754880"/>
            <a:ext cx="3703320" cy="1600200"/>
          </a:xfrm>
          <a:prstGeom prst="rect">
            <a:avLst/>
          </a:prstGeom>
          <a:solidFill>
            <a:srgbClr val="012834"/>
          </a:solidFill>
          <a:ln w="12700">
            <a:solidFill>
              <a:srgbClr val="012834"/>
            </a:solidFill>
            <a:prstDash val="solid"/>
          </a:ln>
        </p:spPr>
      </p:sp>
      <p:sp>
        <p:nvSpPr>
          <p:cNvPr id="16" name="Text 12"/>
          <p:cNvSpPr/>
          <p:nvPr/>
        </p:nvSpPr>
        <p:spPr>
          <a:xfrm>
            <a:off x="4599432" y="4892040"/>
            <a:ext cx="3246120" cy="640080"/>
          </a:xfrm>
          <a:prstGeom prst="rect">
            <a:avLst/>
          </a:prstGeom>
          <a:noFill/>
          <a:ln/>
        </p:spPr>
        <p:txBody>
          <a:bodyPr wrap="square" lIns="0" tIns="0" rIns="0" bIns="0" rtlCol="0" anchor="ctr"/>
          <a:lstStyle/>
          <a:p>
            <a:pPr indent="0" marL="0">
              <a:buNone/>
            </a:pPr>
            <a:r>
              <a:rPr lang="en-US" sz="3000" b="1" dirty="0">
                <a:solidFill>
                  <a:srgbClr val="4BCD3E"/>
                </a:solidFill>
                <a:latin typeface="Calibri" pitchFamily="34" charset="0"/>
                <a:ea typeface="Calibri" pitchFamily="34" charset="-122"/>
                <a:cs typeface="Calibri" pitchFamily="34" charset="-120"/>
              </a:rPr>
              <a:t>85%</a:t>
            </a:r>
            <a:endParaRPr lang="en-US" sz="3000" dirty="0"/>
          </a:p>
        </p:txBody>
      </p:sp>
      <p:sp>
        <p:nvSpPr>
          <p:cNvPr id="17" name="Text 13"/>
          <p:cNvSpPr/>
          <p:nvPr/>
        </p:nvSpPr>
        <p:spPr>
          <a:xfrm>
            <a:off x="4599432" y="5623560"/>
            <a:ext cx="324612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Mobile-wallet penetration of UK adults</a:t>
            </a:r>
            <a:endParaRPr lang="en-US" sz="1100" dirty="0"/>
          </a:p>
        </p:txBody>
      </p:sp>
      <p:sp>
        <p:nvSpPr>
          <p:cNvPr id="18" name="Text 14"/>
          <p:cNvSpPr/>
          <p:nvPr/>
        </p:nvSpPr>
        <p:spPr>
          <a:xfrm>
            <a:off x="4599432" y="6080760"/>
            <a:ext cx="3246120" cy="274320"/>
          </a:xfrm>
          <a:prstGeom prst="rect">
            <a:avLst/>
          </a:prstGeom>
          <a:noFill/>
          <a:ln/>
        </p:spPr>
        <p:txBody>
          <a:bodyPr wrap="square" lIns="0" tIns="0" rIns="0" bIns="0" rtlCol="0" anchor="ctr"/>
          <a:lstStyle/>
          <a:p>
            <a:pPr indent="0" marL="0">
              <a:buNone/>
            </a:pPr>
            <a:r>
              <a:rPr lang="en-US" sz="900" i="1" dirty="0">
                <a:solidFill>
                  <a:srgbClr val="9BC9A1"/>
                </a:solidFill>
                <a:latin typeface="Calibri" pitchFamily="34" charset="0"/>
                <a:ea typeface="Calibri" pitchFamily="34" charset="-122"/>
                <a:cs typeface="Calibri" pitchFamily="34" charset="-120"/>
              </a:rPr>
              <a:t>Bass diffusion model</a:t>
            </a:r>
            <a:endParaRPr lang="en-US" sz="900" dirty="0"/>
          </a:p>
        </p:txBody>
      </p:sp>
      <p:sp>
        <p:nvSpPr>
          <p:cNvPr id="19" name="Shape 15"/>
          <p:cNvSpPr/>
          <p:nvPr/>
        </p:nvSpPr>
        <p:spPr>
          <a:xfrm>
            <a:off x="8238744" y="4754880"/>
            <a:ext cx="3703320" cy="1600200"/>
          </a:xfrm>
          <a:prstGeom prst="rect">
            <a:avLst/>
          </a:prstGeom>
          <a:solidFill>
            <a:srgbClr val="012834"/>
          </a:solidFill>
          <a:ln w="12700">
            <a:solidFill>
              <a:srgbClr val="012834"/>
            </a:solidFill>
            <a:prstDash val="solid"/>
          </a:ln>
        </p:spPr>
      </p:sp>
      <p:sp>
        <p:nvSpPr>
          <p:cNvPr id="20" name="Text 16"/>
          <p:cNvSpPr/>
          <p:nvPr/>
        </p:nvSpPr>
        <p:spPr>
          <a:xfrm>
            <a:off x="8467344" y="4892040"/>
            <a:ext cx="3246120" cy="640080"/>
          </a:xfrm>
          <a:prstGeom prst="rect">
            <a:avLst/>
          </a:prstGeom>
          <a:noFill/>
          <a:ln/>
        </p:spPr>
        <p:txBody>
          <a:bodyPr wrap="square" lIns="0" tIns="0" rIns="0" bIns="0" rtlCol="0" anchor="ctr"/>
          <a:lstStyle/>
          <a:p>
            <a:pPr indent="0" marL="0">
              <a:buNone/>
            </a:pPr>
            <a:r>
              <a:rPr lang="en-US" sz="3000" b="1" dirty="0">
                <a:solidFill>
                  <a:srgbClr val="4BCD3E"/>
                </a:solidFill>
                <a:latin typeface="Calibri" pitchFamily="34" charset="0"/>
                <a:ea typeface="Calibri" pitchFamily="34" charset="-122"/>
                <a:cs typeface="Calibri" pitchFamily="34" charset="-120"/>
              </a:rPr>
              <a:t>49%</a:t>
            </a:r>
            <a:endParaRPr lang="en-US" sz="3000" dirty="0"/>
          </a:p>
        </p:txBody>
      </p:sp>
      <p:sp>
        <p:nvSpPr>
          <p:cNvPr id="21" name="Text 17"/>
          <p:cNvSpPr/>
          <p:nvPr/>
        </p:nvSpPr>
        <p:spPr>
          <a:xfrm>
            <a:off x="8467344" y="5623560"/>
            <a:ext cx="324612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Neobank share of primary current accounts</a:t>
            </a:r>
            <a:endParaRPr lang="en-US" sz="1100" dirty="0"/>
          </a:p>
        </p:txBody>
      </p:sp>
      <p:sp>
        <p:nvSpPr>
          <p:cNvPr id="22" name="Text 18"/>
          <p:cNvSpPr/>
          <p:nvPr/>
        </p:nvSpPr>
        <p:spPr>
          <a:xfrm>
            <a:off x="8467344" y="6080760"/>
            <a:ext cx="3246120" cy="274320"/>
          </a:xfrm>
          <a:prstGeom prst="rect">
            <a:avLst/>
          </a:prstGeom>
          <a:noFill/>
          <a:ln/>
        </p:spPr>
        <p:txBody>
          <a:bodyPr wrap="square" lIns="0" tIns="0" rIns="0" bIns="0" rtlCol="0" anchor="ctr"/>
          <a:lstStyle/>
          <a:p>
            <a:pPr indent="0" marL="0">
              <a:buNone/>
            </a:pPr>
            <a:r>
              <a:rPr lang="en-US" sz="900" i="1" dirty="0">
                <a:solidFill>
                  <a:srgbClr val="9BC9A1"/>
                </a:solidFill>
                <a:latin typeface="Calibri" pitchFamily="34" charset="0"/>
                <a:ea typeface="Calibri" pitchFamily="34" charset="-122"/>
                <a:cs typeface="Calibri" pitchFamily="34" charset="-120"/>
              </a:rPr>
              <a:t>Fisher-Pry substitution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912114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9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Assumptions and sensitivity</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Where the forecast bites hardest</a:t>
            </a:r>
            <a:endParaRPr lang="en-US" sz="1300" dirty="0"/>
          </a:p>
        </p:txBody>
      </p:sp>
      <p:pic>
        <p:nvPicPr>
          <p:cNvPr id="9" name="Image 0" descr="/mnt/user-data/outputs/charts_forecast/20_tornado.png">    </p:cNvPr>
          <p:cNvPicPr>
            <a:picLocks noChangeAspect="1"/>
          </p:cNvPicPr>
          <p:nvPr/>
        </p:nvPicPr>
        <p:blipFill>
          <a:blip r:embed="rId1"/>
          <a:stretch>
            <a:fillRect/>
          </a:stretch>
        </p:blipFill>
        <p:spPr>
          <a:xfrm>
            <a:off x="502920" y="1417320"/>
            <a:ext cx="7680960" cy="4023360"/>
          </a:xfrm>
          <a:prstGeom prst="rect">
            <a:avLst/>
          </a:prstGeom>
        </p:spPr>
      </p:pic>
      <p:sp>
        <p:nvSpPr>
          <p:cNvPr id="10" name="Shape 7"/>
          <p:cNvSpPr/>
          <p:nvPr/>
        </p:nvSpPr>
        <p:spPr>
          <a:xfrm>
            <a:off x="8412480" y="1417320"/>
            <a:ext cx="3337560" cy="4023360"/>
          </a:xfrm>
          <a:prstGeom prst="rect">
            <a:avLst/>
          </a:prstGeom>
          <a:solidFill>
            <a:srgbClr val="F9F5F1"/>
          </a:solidFill>
          <a:ln w="6350">
            <a:solidFill>
              <a:srgbClr val="D6D6D6"/>
            </a:solidFill>
            <a:prstDash val="solid"/>
          </a:ln>
        </p:spPr>
      </p:sp>
      <p:sp>
        <p:nvSpPr>
          <p:cNvPr id="11" name="Text 8"/>
          <p:cNvSpPr/>
          <p:nvPr/>
        </p:nvSpPr>
        <p:spPr>
          <a:xfrm>
            <a:off x="8595360" y="1554480"/>
            <a:ext cx="3017520" cy="320040"/>
          </a:xfrm>
          <a:prstGeom prst="rect">
            <a:avLst/>
          </a:prstGeom>
          <a:noFill/>
          <a:ln/>
        </p:spPr>
        <p:txBody>
          <a:bodyPr wrap="square" lIns="0" tIns="0" rIns="0" bIns="0" rtlCol="0" anchor="ctr"/>
          <a:lstStyle/>
          <a:p>
            <a:pPr indent="0" marL="0">
              <a:buNone/>
            </a:pPr>
            <a:r>
              <a:rPr lang="en-US" sz="1400" b="1" dirty="0">
                <a:solidFill>
                  <a:srgbClr val="012834"/>
                </a:solidFill>
                <a:latin typeface="Calibri" pitchFamily="34" charset="0"/>
                <a:ea typeface="Calibri" pitchFamily="34" charset="-122"/>
                <a:cs typeface="Calibri" pitchFamily="34" charset="-120"/>
              </a:rPr>
              <a:t>Key assumptions</a:t>
            </a:r>
            <a:endParaRPr lang="en-US" sz="1400" dirty="0"/>
          </a:p>
        </p:txBody>
      </p:sp>
      <p:sp>
        <p:nvSpPr>
          <p:cNvPr id="12" name="Text 9"/>
          <p:cNvSpPr/>
          <p:nvPr/>
        </p:nvSpPr>
        <p:spPr>
          <a:xfrm>
            <a:off x="8595360" y="1965960"/>
            <a:ext cx="3017520" cy="3383280"/>
          </a:xfrm>
          <a:prstGeom prst="rect">
            <a:avLst/>
          </a:prstGeom>
          <a:noFill/>
          <a:ln/>
        </p:spPr>
        <p:txBody>
          <a:bodyPr wrap="square" lIns="0" tIns="0" rIns="0" bIns="0" rtlCol="0" anchor="t"/>
          <a:lstStyle/>
          <a:p>
            <a:pPr indent="0" marL="0">
              <a:buNone/>
            </a:pPr>
            <a:r>
              <a:rPr lang="en-US" sz="1100" b="1" dirty="0">
                <a:solidFill>
                  <a:srgbClr val="012834"/>
                </a:solidFill>
                <a:latin typeface="Calibri" pitchFamily="34" charset="0"/>
                <a:ea typeface="Calibri" pitchFamily="34" charset="-122"/>
                <a:cs typeface="Calibri" pitchFamily="34" charset="-120"/>
              </a:rPr>
              <a:t>Neobank ceiling</a:t>
            </a:r>
            <a:endParaRPr lang="en-US" sz="1100" dirty="0"/>
          </a:p>
          <a:p>
            <a:pPr indent="0" marL="0">
              <a:buNone/>
            </a:pPr>
            <a:r>
              <a:rPr lang="en-US" sz="1100" dirty="0">
                <a:solidFill>
                  <a:srgbClr val="5A6068"/>
                </a:solidFill>
                <a:latin typeface="Calibri" pitchFamily="34" charset="0"/>
                <a:ea typeface="Calibri" pitchFamily="34" charset="-122"/>
                <a:cs typeface="Calibri" pitchFamily="34" charset="-120"/>
              </a:rPr>
              <a:t>where market saturates</a:t>
            </a:r>
            <a:endParaRPr lang="en-US" sz="11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12834"/>
                </a:solidFill>
                <a:latin typeface="Calibri" pitchFamily="34" charset="0"/>
                <a:ea typeface="Calibri" pitchFamily="34" charset="-122"/>
                <a:cs typeface="Calibri" pitchFamily="34" charset="-120"/>
              </a:rPr>
              <a:t>Cash floor</a:t>
            </a:r>
            <a:endParaRPr lang="en-US" sz="1100" dirty="0"/>
          </a:p>
          <a:p>
            <a:pPr indent="0" marL="0">
              <a:buNone/>
            </a:pPr>
            <a:r>
              <a:rPr lang="en-US" sz="1100" dirty="0">
                <a:solidFill>
                  <a:srgbClr val="5A6068"/>
                </a:solidFill>
                <a:latin typeface="Calibri" pitchFamily="34" charset="0"/>
                <a:ea typeface="Calibri" pitchFamily="34" charset="-122"/>
                <a:cs typeface="Calibri" pitchFamily="34" charset="-120"/>
              </a:rPr>
              <a:t>structural minimum 2030+</a:t>
            </a:r>
            <a:endParaRPr lang="en-US" sz="11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12834"/>
                </a:solidFill>
                <a:latin typeface="Calibri" pitchFamily="34" charset="0"/>
                <a:ea typeface="Calibri" pitchFamily="34" charset="-122"/>
                <a:cs typeface="Calibri" pitchFamily="34" charset="-120"/>
              </a:rPr>
              <a:t>Faster-payments ceiling</a:t>
            </a:r>
            <a:endParaRPr lang="en-US" sz="1100" dirty="0"/>
          </a:p>
          <a:p>
            <a:pPr indent="0" marL="0">
              <a:buNone/>
            </a:pPr>
            <a:r>
              <a:rPr lang="en-US" sz="1100" dirty="0">
                <a:solidFill>
                  <a:srgbClr val="5A6068"/>
                </a:solidFill>
                <a:latin typeface="Calibri" pitchFamily="34" charset="0"/>
                <a:ea typeface="Calibri" pitchFamily="34" charset="-122"/>
                <a:cs typeface="Calibri" pitchFamily="34" charset="-120"/>
              </a:rPr>
              <a:t>long-run share of volume</a:t>
            </a:r>
            <a:endParaRPr lang="en-US" sz="11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12834"/>
                </a:solidFill>
                <a:latin typeface="Calibri" pitchFamily="34" charset="0"/>
                <a:ea typeface="Calibri" pitchFamily="34" charset="-122"/>
                <a:cs typeface="Calibri" pitchFamily="34" charset="-120"/>
              </a:rPr>
              <a:t>Mobile-wallet ceiling</a:t>
            </a:r>
            <a:endParaRPr lang="en-US" sz="1100" dirty="0"/>
          </a:p>
          <a:p>
            <a:pPr indent="0" marL="0">
              <a:buNone/>
            </a:pPr>
            <a:r>
              <a:rPr lang="en-US" sz="1100" dirty="0">
                <a:solidFill>
                  <a:srgbClr val="5A6068"/>
                </a:solidFill>
                <a:latin typeface="Calibri" pitchFamily="34" charset="0"/>
                <a:ea typeface="Calibri" pitchFamily="34" charset="-122"/>
                <a:cs typeface="Calibri" pitchFamily="34" charset="-120"/>
              </a:rPr>
              <a:t>adult-population reach</a:t>
            </a:r>
            <a:endParaRPr lang="en-US" sz="1100" dirty="0"/>
          </a:p>
        </p:txBody>
      </p:sp>
      <p:sp>
        <p:nvSpPr>
          <p:cNvPr id="13" name="Shape 10"/>
          <p:cNvSpPr/>
          <p:nvPr/>
        </p:nvSpPr>
        <p:spPr>
          <a:xfrm>
            <a:off x="502920" y="5623560"/>
            <a:ext cx="11247120" cy="777240"/>
          </a:xfrm>
          <a:prstGeom prst="rect">
            <a:avLst/>
          </a:prstGeom>
          <a:solidFill>
            <a:srgbClr val="012834"/>
          </a:solidFill>
          <a:ln w="12700">
            <a:solidFill>
              <a:srgbClr val="012834"/>
            </a:solidFill>
            <a:prstDash val="solid"/>
          </a:ln>
        </p:spPr>
      </p:sp>
      <p:sp>
        <p:nvSpPr>
          <p:cNvPr id="14" name="Text 11"/>
          <p:cNvSpPr/>
          <p:nvPr/>
        </p:nvSpPr>
        <p:spPr>
          <a:xfrm>
            <a:off x="777240" y="5715000"/>
            <a:ext cx="10972800" cy="640080"/>
          </a:xfrm>
          <a:prstGeom prst="rect">
            <a:avLst/>
          </a:prstGeom>
          <a:noFill/>
          <a:ln/>
        </p:spPr>
        <p:txBody>
          <a:bodyPr wrap="square" lIns="0" tIns="0" rIns="0" bIns="0" rtlCol="0" anchor="ctr"/>
          <a:lstStyle/>
          <a:p>
            <a:pPr indent="0" marL="0">
              <a:buNone/>
            </a:pPr>
            <a:r>
              <a:rPr lang="en-US" sz="1200" b="1" dirty="0">
                <a:solidFill>
                  <a:srgbClr val="4BCD3E"/>
                </a:solidFill>
                <a:latin typeface="Calibri" pitchFamily="34" charset="0"/>
                <a:ea typeface="Calibri" pitchFamily="34" charset="-122"/>
                <a:cs typeface="Calibri" pitchFamily="34" charset="-120"/>
              </a:rPr>
              <a:t>Bottom line: </a:t>
            </a:r>
            <a:pPr indent="0" marL="0">
              <a:buNone/>
            </a:pPr>
            <a:r>
              <a:rPr lang="en-US" sz="1200" dirty="0">
                <a:solidFill>
                  <a:srgbClr val="FFFFFF"/>
                </a:solidFill>
                <a:latin typeface="Calibri" pitchFamily="34" charset="0"/>
                <a:ea typeface="Calibri" pitchFamily="34" charset="-122"/>
                <a:cs typeface="Calibri" pitchFamily="34" charset="-120"/>
              </a:rPr>
              <a:t>the neobank ceiling and the cash floor each swing the 2034 forecast by roughly ±30%. </a:t>
            </a:r>
            <a:pPr indent="0" marL="0">
              <a:buNone/>
            </a:pPr>
            <a:r>
              <a:rPr lang="en-US" sz="1200" dirty="0">
                <a:solidFill>
                  <a:srgbClr val="FFFFFF"/>
                </a:solidFill>
                <a:latin typeface="Calibri" pitchFamily="34" charset="0"/>
                <a:ea typeface="Calibri" pitchFamily="34" charset="-122"/>
                <a:cs typeface="Calibri" pitchFamily="34" charset="-120"/>
              </a:rPr>
              <a:t>Monte Carlo across all parameters confirms our central numbers are robust within their 80% intervals.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1013460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10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What this means for FIS</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Strategic priorities for the next decade</a:t>
            </a:r>
            <a:endParaRPr lang="en-US" sz="1300" dirty="0"/>
          </a:p>
        </p:txBody>
      </p:sp>
      <p:sp>
        <p:nvSpPr>
          <p:cNvPr id="9" name="Shape 7"/>
          <p:cNvSpPr/>
          <p:nvPr/>
        </p:nvSpPr>
        <p:spPr>
          <a:xfrm>
            <a:off x="502920" y="1554480"/>
            <a:ext cx="5532120" cy="2057400"/>
          </a:xfrm>
          <a:prstGeom prst="rect">
            <a:avLst/>
          </a:prstGeom>
          <a:solidFill>
            <a:srgbClr val="FFFFFF"/>
          </a:solidFill>
          <a:ln w="9525">
            <a:solidFill>
              <a:srgbClr val="D6D6D6"/>
            </a:solidFill>
            <a:prstDash val="solid"/>
          </a:ln>
        </p:spPr>
      </p:sp>
      <p:sp>
        <p:nvSpPr>
          <p:cNvPr id="10" name="Shape 8"/>
          <p:cNvSpPr/>
          <p:nvPr/>
        </p:nvSpPr>
        <p:spPr>
          <a:xfrm>
            <a:off x="502920" y="1554480"/>
            <a:ext cx="91440" cy="2057400"/>
          </a:xfrm>
          <a:prstGeom prst="rect">
            <a:avLst/>
          </a:prstGeom>
          <a:solidFill>
            <a:srgbClr val="4BCD3E"/>
          </a:solidFill>
          <a:ln w="12700">
            <a:solidFill>
              <a:srgbClr val="4BCD3E"/>
            </a:solidFill>
            <a:prstDash val="solid"/>
          </a:ln>
        </p:spPr>
      </p:sp>
      <p:sp>
        <p:nvSpPr>
          <p:cNvPr id="11" name="Shape 9"/>
          <p:cNvSpPr/>
          <p:nvPr/>
        </p:nvSpPr>
        <p:spPr>
          <a:xfrm>
            <a:off x="777240" y="1783080"/>
            <a:ext cx="1188720" cy="292608"/>
          </a:xfrm>
          <a:prstGeom prst="roundRect">
            <a:avLst>
              <a:gd name="adj" fmla="val 18750"/>
            </a:avLst>
          </a:prstGeom>
          <a:solidFill>
            <a:srgbClr val="012834"/>
          </a:solidFill>
          <a:ln w="12700">
            <a:solidFill>
              <a:srgbClr val="012834"/>
            </a:solidFill>
            <a:prstDash val="solid"/>
          </a:ln>
        </p:spPr>
      </p:sp>
      <p:sp>
        <p:nvSpPr>
          <p:cNvPr id="12" name="Text 10"/>
          <p:cNvSpPr/>
          <p:nvPr/>
        </p:nvSpPr>
        <p:spPr>
          <a:xfrm>
            <a:off x="777240" y="1783080"/>
            <a:ext cx="1188720" cy="292608"/>
          </a:xfrm>
          <a:prstGeom prst="rect">
            <a:avLst/>
          </a:prstGeom>
          <a:noFill/>
          <a:ln/>
        </p:spPr>
        <p:txBody>
          <a:bodyPr wrap="square" lIns="0" tIns="0" rIns="0" bIns="0" rtlCol="0" anchor="ctr"/>
          <a:lstStyle/>
          <a:p>
            <a:pPr algn="ctr" indent="0" marL="0">
              <a:buNone/>
            </a:pPr>
            <a:r>
              <a:rPr lang="en-US" sz="900" b="1" dirty="0">
                <a:solidFill>
                  <a:srgbClr val="4BCD3E"/>
                </a:solidFill>
                <a:latin typeface="Calibri" pitchFamily="34" charset="0"/>
                <a:ea typeface="Calibri" pitchFamily="34" charset="-122"/>
                <a:cs typeface="Calibri" pitchFamily="34" charset="-120"/>
              </a:rPr>
              <a:t>Security</a:t>
            </a:r>
            <a:endParaRPr lang="en-US" sz="900" dirty="0"/>
          </a:p>
        </p:txBody>
      </p:sp>
      <p:sp>
        <p:nvSpPr>
          <p:cNvPr id="13" name="Text 11"/>
          <p:cNvSpPr/>
          <p:nvPr/>
        </p:nvSpPr>
        <p:spPr>
          <a:xfrm>
            <a:off x="777240" y="2194560"/>
            <a:ext cx="5074920" cy="457200"/>
          </a:xfrm>
          <a:prstGeom prst="rect">
            <a:avLst/>
          </a:prstGeom>
          <a:noFill/>
          <a:ln/>
        </p:spPr>
        <p:txBody>
          <a:bodyPr wrap="square" lIns="0" tIns="0" rIns="0" bIns="0" rtlCol="0" anchor="ctr"/>
          <a:lstStyle/>
          <a:p>
            <a:pPr indent="0" marL="0">
              <a:buNone/>
            </a:pPr>
            <a:r>
              <a:rPr lang="en-US" sz="1500" b="1" dirty="0">
                <a:solidFill>
                  <a:srgbClr val="012834"/>
                </a:solidFill>
                <a:latin typeface="Calibri" pitchFamily="34" charset="0"/>
                <a:ea typeface="Calibri" pitchFamily="34" charset="-122"/>
                <a:cs typeface="Calibri" pitchFamily="34" charset="-120"/>
              </a:rPr>
              <a:t>Remote-vector security is the priority</a:t>
            </a:r>
            <a:endParaRPr lang="en-US" sz="1500" dirty="0"/>
          </a:p>
        </p:txBody>
      </p:sp>
      <p:sp>
        <p:nvSpPr>
          <p:cNvPr id="14" name="Text 12"/>
          <p:cNvSpPr/>
          <p:nvPr/>
        </p:nvSpPr>
        <p:spPr>
          <a:xfrm>
            <a:off x="777240" y="2651760"/>
            <a:ext cx="5074920" cy="91440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Card-Not-Present fraud is the dominant remaining attack surface. Real-time fraud detection and behavioural biometrics should anchor product investment.</a:t>
            </a:r>
            <a:endParaRPr lang="en-US" sz="1150" dirty="0"/>
          </a:p>
        </p:txBody>
      </p:sp>
      <p:sp>
        <p:nvSpPr>
          <p:cNvPr id="15" name="Shape 13"/>
          <p:cNvSpPr/>
          <p:nvPr/>
        </p:nvSpPr>
        <p:spPr>
          <a:xfrm>
            <a:off x="6217920" y="1554480"/>
            <a:ext cx="5532120" cy="2057400"/>
          </a:xfrm>
          <a:prstGeom prst="rect">
            <a:avLst/>
          </a:prstGeom>
          <a:solidFill>
            <a:srgbClr val="FFFFFF"/>
          </a:solidFill>
          <a:ln w="9525">
            <a:solidFill>
              <a:srgbClr val="D6D6D6"/>
            </a:solidFill>
            <a:prstDash val="solid"/>
          </a:ln>
        </p:spPr>
      </p:sp>
      <p:sp>
        <p:nvSpPr>
          <p:cNvPr id="16" name="Shape 14"/>
          <p:cNvSpPr/>
          <p:nvPr/>
        </p:nvSpPr>
        <p:spPr>
          <a:xfrm>
            <a:off x="6217920" y="1554480"/>
            <a:ext cx="91440" cy="2057400"/>
          </a:xfrm>
          <a:prstGeom prst="rect">
            <a:avLst/>
          </a:prstGeom>
          <a:solidFill>
            <a:srgbClr val="4BCD3E"/>
          </a:solidFill>
          <a:ln w="12700">
            <a:solidFill>
              <a:srgbClr val="4BCD3E"/>
            </a:solidFill>
            <a:prstDash val="solid"/>
          </a:ln>
        </p:spPr>
      </p:sp>
      <p:sp>
        <p:nvSpPr>
          <p:cNvPr id="17" name="Shape 15"/>
          <p:cNvSpPr/>
          <p:nvPr/>
        </p:nvSpPr>
        <p:spPr>
          <a:xfrm>
            <a:off x="6492240" y="1783080"/>
            <a:ext cx="1188720" cy="292608"/>
          </a:xfrm>
          <a:prstGeom prst="roundRect">
            <a:avLst>
              <a:gd name="adj" fmla="val 18750"/>
            </a:avLst>
          </a:prstGeom>
          <a:solidFill>
            <a:srgbClr val="012834"/>
          </a:solidFill>
          <a:ln w="12700">
            <a:solidFill>
              <a:srgbClr val="012834"/>
            </a:solidFill>
            <a:prstDash val="solid"/>
          </a:ln>
        </p:spPr>
      </p:sp>
      <p:sp>
        <p:nvSpPr>
          <p:cNvPr id="18" name="Text 16"/>
          <p:cNvSpPr/>
          <p:nvPr/>
        </p:nvSpPr>
        <p:spPr>
          <a:xfrm>
            <a:off x="6492240" y="1783080"/>
            <a:ext cx="1188720" cy="292608"/>
          </a:xfrm>
          <a:prstGeom prst="rect">
            <a:avLst/>
          </a:prstGeom>
          <a:noFill/>
          <a:ln/>
        </p:spPr>
        <p:txBody>
          <a:bodyPr wrap="square" lIns="0" tIns="0" rIns="0" bIns="0" rtlCol="0" anchor="ctr"/>
          <a:lstStyle/>
          <a:p>
            <a:pPr algn="ctr" indent="0" marL="0">
              <a:buNone/>
            </a:pPr>
            <a:r>
              <a:rPr lang="en-US" sz="900" b="1" dirty="0">
                <a:solidFill>
                  <a:srgbClr val="4BCD3E"/>
                </a:solidFill>
                <a:latin typeface="Calibri" pitchFamily="34" charset="0"/>
                <a:ea typeface="Calibri" pitchFamily="34" charset="-122"/>
                <a:cs typeface="Calibri" pitchFamily="34" charset="-120"/>
              </a:rPr>
              <a:t>Channels</a:t>
            </a:r>
            <a:endParaRPr lang="en-US" sz="900" dirty="0"/>
          </a:p>
        </p:txBody>
      </p:sp>
      <p:sp>
        <p:nvSpPr>
          <p:cNvPr id="19" name="Text 17"/>
          <p:cNvSpPr/>
          <p:nvPr/>
        </p:nvSpPr>
        <p:spPr>
          <a:xfrm>
            <a:off x="6492240" y="2194560"/>
            <a:ext cx="5074920" cy="457200"/>
          </a:xfrm>
          <a:prstGeom prst="rect">
            <a:avLst/>
          </a:prstGeom>
          <a:noFill/>
          <a:ln/>
        </p:spPr>
        <p:txBody>
          <a:bodyPr wrap="square" lIns="0" tIns="0" rIns="0" bIns="0" rtlCol="0" anchor="ctr"/>
          <a:lstStyle/>
          <a:p>
            <a:pPr indent="0" marL="0">
              <a:buNone/>
            </a:pPr>
            <a:r>
              <a:rPr lang="en-US" sz="1500" b="1" dirty="0">
                <a:solidFill>
                  <a:srgbClr val="012834"/>
                </a:solidFill>
                <a:latin typeface="Calibri" pitchFamily="34" charset="0"/>
                <a:ea typeface="Calibri" pitchFamily="34" charset="-122"/>
                <a:cs typeface="Calibri" pitchFamily="34" charset="-120"/>
              </a:rPr>
              <a:t>Build for digital-first, not branch-supported</a:t>
            </a:r>
            <a:endParaRPr lang="en-US" sz="1500" dirty="0"/>
          </a:p>
        </p:txBody>
      </p:sp>
      <p:sp>
        <p:nvSpPr>
          <p:cNvPr id="20" name="Text 18"/>
          <p:cNvSpPr/>
          <p:nvPr/>
        </p:nvSpPr>
        <p:spPr>
          <a:xfrm>
            <a:off x="6492240" y="2651760"/>
            <a:ext cx="5074920" cy="91440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Account-switching, onboarding and account servicing should assume zero-branch interaction as the default journey — branches will be a long-tail channel by 2034.</a:t>
            </a:r>
            <a:endParaRPr lang="en-US" sz="1150" dirty="0"/>
          </a:p>
        </p:txBody>
      </p:sp>
      <p:sp>
        <p:nvSpPr>
          <p:cNvPr id="21" name="Shape 19"/>
          <p:cNvSpPr/>
          <p:nvPr/>
        </p:nvSpPr>
        <p:spPr>
          <a:xfrm>
            <a:off x="502920" y="3776472"/>
            <a:ext cx="5532120" cy="2057400"/>
          </a:xfrm>
          <a:prstGeom prst="rect">
            <a:avLst/>
          </a:prstGeom>
          <a:solidFill>
            <a:srgbClr val="FFFFFF"/>
          </a:solidFill>
          <a:ln w="9525">
            <a:solidFill>
              <a:srgbClr val="D6D6D6"/>
            </a:solidFill>
            <a:prstDash val="solid"/>
          </a:ln>
        </p:spPr>
      </p:sp>
      <p:sp>
        <p:nvSpPr>
          <p:cNvPr id="22" name="Shape 20"/>
          <p:cNvSpPr/>
          <p:nvPr/>
        </p:nvSpPr>
        <p:spPr>
          <a:xfrm>
            <a:off x="502920" y="3776472"/>
            <a:ext cx="91440" cy="2057400"/>
          </a:xfrm>
          <a:prstGeom prst="rect">
            <a:avLst/>
          </a:prstGeom>
          <a:solidFill>
            <a:srgbClr val="4BCD3E"/>
          </a:solidFill>
          <a:ln w="12700">
            <a:solidFill>
              <a:srgbClr val="4BCD3E"/>
            </a:solidFill>
            <a:prstDash val="solid"/>
          </a:ln>
        </p:spPr>
      </p:sp>
      <p:sp>
        <p:nvSpPr>
          <p:cNvPr id="23" name="Shape 21"/>
          <p:cNvSpPr/>
          <p:nvPr/>
        </p:nvSpPr>
        <p:spPr>
          <a:xfrm>
            <a:off x="777240" y="4005072"/>
            <a:ext cx="1188720" cy="292608"/>
          </a:xfrm>
          <a:prstGeom prst="roundRect">
            <a:avLst>
              <a:gd name="adj" fmla="val 18750"/>
            </a:avLst>
          </a:prstGeom>
          <a:solidFill>
            <a:srgbClr val="012834"/>
          </a:solidFill>
          <a:ln w="12700">
            <a:solidFill>
              <a:srgbClr val="012834"/>
            </a:solidFill>
            <a:prstDash val="solid"/>
          </a:ln>
        </p:spPr>
      </p:sp>
      <p:sp>
        <p:nvSpPr>
          <p:cNvPr id="24" name="Text 22"/>
          <p:cNvSpPr/>
          <p:nvPr/>
        </p:nvSpPr>
        <p:spPr>
          <a:xfrm>
            <a:off x="777240" y="4005072"/>
            <a:ext cx="1188720" cy="292608"/>
          </a:xfrm>
          <a:prstGeom prst="rect">
            <a:avLst/>
          </a:prstGeom>
          <a:noFill/>
          <a:ln/>
        </p:spPr>
        <p:txBody>
          <a:bodyPr wrap="square" lIns="0" tIns="0" rIns="0" bIns="0" rtlCol="0" anchor="ctr"/>
          <a:lstStyle/>
          <a:p>
            <a:pPr algn="ctr" indent="0" marL="0">
              <a:buNone/>
            </a:pPr>
            <a:r>
              <a:rPr lang="en-US" sz="900" b="1" dirty="0">
                <a:solidFill>
                  <a:srgbClr val="4BCD3E"/>
                </a:solidFill>
                <a:latin typeface="Calibri" pitchFamily="34" charset="0"/>
                <a:ea typeface="Calibri" pitchFamily="34" charset="-122"/>
                <a:cs typeface="Calibri" pitchFamily="34" charset="-120"/>
              </a:rPr>
              <a:t>Partnerships</a:t>
            </a:r>
            <a:endParaRPr lang="en-US" sz="900" dirty="0"/>
          </a:p>
        </p:txBody>
      </p:sp>
      <p:sp>
        <p:nvSpPr>
          <p:cNvPr id="25" name="Text 23"/>
          <p:cNvSpPr/>
          <p:nvPr/>
        </p:nvSpPr>
        <p:spPr>
          <a:xfrm>
            <a:off x="777240" y="4416552"/>
            <a:ext cx="5074920" cy="457200"/>
          </a:xfrm>
          <a:prstGeom prst="rect">
            <a:avLst/>
          </a:prstGeom>
          <a:noFill/>
          <a:ln/>
        </p:spPr>
        <p:txBody>
          <a:bodyPr wrap="square" lIns="0" tIns="0" rIns="0" bIns="0" rtlCol="0" anchor="ctr"/>
          <a:lstStyle/>
          <a:p>
            <a:pPr indent="0" marL="0">
              <a:buNone/>
            </a:pPr>
            <a:r>
              <a:rPr lang="en-US" sz="1500" b="1" dirty="0">
                <a:solidFill>
                  <a:srgbClr val="012834"/>
                </a:solidFill>
                <a:latin typeface="Calibri" pitchFamily="34" charset="0"/>
                <a:ea typeface="Calibri" pitchFamily="34" charset="-122"/>
                <a:cs typeface="Calibri" pitchFamily="34" charset="-120"/>
              </a:rPr>
              <a:t>Neobank infrastructure is half the market</a:t>
            </a:r>
            <a:endParaRPr lang="en-US" sz="1500" dirty="0"/>
          </a:p>
        </p:txBody>
      </p:sp>
      <p:sp>
        <p:nvSpPr>
          <p:cNvPr id="26" name="Text 24"/>
          <p:cNvSpPr/>
          <p:nvPr/>
        </p:nvSpPr>
        <p:spPr>
          <a:xfrm>
            <a:off x="777240" y="4873752"/>
            <a:ext cx="5074920" cy="91440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By 2034 ~49% of primary accounts will sit with neobanks. Core-banking, payment-rail and compliance products need first-class support for fintech architectures.</a:t>
            </a:r>
            <a:endParaRPr lang="en-US" sz="1150" dirty="0"/>
          </a:p>
        </p:txBody>
      </p:sp>
      <p:sp>
        <p:nvSpPr>
          <p:cNvPr id="27" name="Shape 25"/>
          <p:cNvSpPr/>
          <p:nvPr/>
        </p:nvSpPr>
        <p:spPr>
          <a:xfrm>
            <a:off x="6217920" y="3776472"/>
            <a:ext cx="5532120" cy="2057400"/>
          </a:xfrm>
          <a:prstGeom prst="rect">
            <a:avLst/>
          </a:prstGeom>
          <a:solidFill>
            <a:srgbClr val="FFFFFF"/>
          </a:solidFill>
          <a:ln w="9525">
            <a:solidFill>
              <a:srgbClr val="D6D6D6"/>
            </a:solidFill>
            <a:prstDash val="solid"/>
          </a:ln>
        </p:spPr>
      </p:sp>
      <p:sp>
        <p:nvSpPr>
          <p:cNvPr id="28" name="Shape 26"/>
          <p:cNvSpPr/>
          <p:nvPr/>
        </p:nvSpPr>
        <p:spPr>
          <a:xfrm>
            <a:off x="6217920" y="3776472"/>
            <a:ext cx="91440" cy="2057400"/>
          </a:xfrm>
          <a:prstGeom prst="rect">
            <a:avLst/>
          </a:prstGeom>
          <a:solidFill>
            <a:srgbClr val="4BCD3E"/>
          </a:solidFill>
          <a:ln w="12700">
            <a:solidFill>
              <a:srgbClr val="4BCD3E"/>
            </a:solidFill>
            <a:prstDash val="solid"/>
          </a:ln>
        </p:spPr>
      </p:sp>
      <p:sp>
        <p:nvSpPr>
          <p:cNvPr id="29" name="Shape 27"/>
          <p:cNvSpPr/>
          <p:nvPr/>
        </p:nvSpPr>
        <p:spPr>
          <a:xfrm>
            <a:off x="6492240" y="4005072"/>
            <a:ext cx="1188720" cy="292608"/>
          </a:xfrm>
          <a:prstGeom prst="roundRect">
            <a:avLst>
              <a:gd name="adj" fmla="val 18750"/>
            </a:avLst>
          </a:prstGeom>
          <a:solidFill>
            <a:srgbClr val="012834"/>
          </a:solidFill>
          <a:ln w="12700">
            <a:solidFill>
              <a:srgbClr val="012834"/>
            </a:solidFill>
            <a:prstDash val="solid"/>
          </a:ln>
        </p:spPr>
      </p:sp>
      <p:sp>
        <p:nvSpPr>
          <p:cNvPr id="30" name="Text 28"/>
          <p:cNvSpPr/>
          <p:nvPr/>
        </p:nvSpPr>
        <p:spPr>
          <a:xfrm>
            <a:off x="6492240" y="4005072"/>
            <a:ext cx="1188720" cy="292608"/>
          </a:xfrm>
          <a:prstGeom prst="rect">
            <a:avLst/>
          </a:prstGeom>
          <a:noFill/>
          <a:ln/>
        </p:spPr>
        <p:txBody>
          <a:bodyPr wrap="square" lIns="0" tIns="0" rIns="0" bIns="0" rtlCol="0" anchor="ctr"/>
          <a:lstStyle/>
          <a:p>
            <a:pPr algn="ctr" indent="0" marL="0">
              <a:buNone/>
            </a:pPr>
            <a:r>
              <a:rPr lang="en-US" sz="900" b="1" dirty="0">
                <a:solidFill>
                  <a:srgbClr val="4BCD3E"/>
                </a:solidFill>
                <a:latin typeface="Calibri" pitchFamily="34" charset="0"/>
                <a:ea typeface="Calibri" pitchFamily="34" charset="-122"/>
                <a:cs typeface="Calibri" pitchFamily="34" charset="-120"/>
              </a:rPr>
              <a:t>Rails</a:t>
            </a:r>
            <a:endParaRPr lang="en-US" sz="900" dirty="0"/>
          </a:p>
        </p:txBody>
      </p:sp>
      <p:sp>
        <p:nvSpPr>
          <p:cNvPr id="31" name="Text 29"/>
          <p:cNvSpPr/>
          <p:nvPr/>
        </p:nvSpPr>
        <p:spPr>
          <a:xfrm>
            <a:off x="6492240" y="4416552"/>
            <a:ext cx="5074920" cy="457200"/>
          </a:xfrm>
          <a:prstGeom prst="rect">
            <a:avLst/>
          </a:prstGeom>
          <a:noFill/>
          <a:ln/>
        </p:spPr>
        <p:txBody>
          <a:bodyPr wrap="square" lIns="0" tIns="0" rIns="0" bIns="0" rtlCol="0" anchor="ctr"/>
          <a:lstStyle/>
          <a:p>
            <a:pPr indent="0" marL="0">
              <a:buNone/>
            </a:pPr>
            <a:r>
              <a:rPr lang="en-US" sz="1500" b="1" dirty="0">
                <a:solidFill>
                  <a:srgbClr val="012834"/>
                </a:solidFill>
                <a:latin typeface="Calibri" pitchFamily="34" charset="0"/>
                <a:ea typeface="Calibri" pitchFamily="34" charset="-122"/>
                <a:cs typeface="Calibri" pitchFamily="34" charset="-120"/>
              </a:rPr>
              <a:t>Mobile wallets are the default rail</a:t>
            </a:r>
            <a:endParaRPr lang="en-US" sz="1500" dirty="0"/>
          </a:p>
        </p:txBody>
      </p:sp>
      <p:sp>
        <p:nvSpPr>
          <p:cNvPr id="32" name="Text 30"/>
          <p:cNvSpPr/>
          <p:nvPr/>
        </p:nvSpPr>
        <p:spPr>
          <a:xfrm>
            <a:off x="6492240" y="4873752"/>
            <a:ext cx="5074920" cy="91440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85% adult penetration means wallets, not cards, will be the primary point of authentication and authorisation. Tokenisation and pass-credential infrastructure follows.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9F5F1"/>
          </a:solidFill>
          <a:ln w="12700">
            <a:solidFill>
              <a:srgbClr val="F9F5F1"/>
            </a:solidFill>
            <a:prstDash val="solid"/>
          </a:ln>
        </p:spPr>
      </p:sp>
      <p:sp>
        <p:nvSpPr>
          <p:cNvPr id="3" name="Shape 1"/>
          <p:cNvSpPr/>
          <p:nvPr/>
        </p:nvSpPr>
        <p:spPr>
          <a:xfrm>
            <a:off x="0" y="0"/>
            <a:ext cx="11148060" cy="91440"/>
          </a:xfrm>
          <a:prstGeom prst="rect">
            <a:avLst/>
          </a:prstGeom>
          <a:solidFill>
            <a:srgbClr val="4BCD3E"/>
          </a:solidFill>
          <a:ln w="12700">
            <a:solidFill>
              <a:srgbClr val="4BCD3E"/>
            </a:solidFill>
            <a:prstDash val="solid"/>
          </a:ln>
        </p:spPr>
      </p:sp>
      <p:sp>
        <p:nvSpPr>
          <p:cNvPr id="4" name="Shape 2"/>
          <p:cNvSpPr/>
          <p:nvPr/>
        </p:nvSpPr>
        <p:spPr>
          <a:xfrm>
            <a:off x="0" y="91440"/>
            <a:ext cx="201168" cy="6766560"/>
          </a:xfrm>
          <a:prstGeom prst="rect">
            <a:avLst/>
          </a:prstGeom>
          <a:solidFill>
            <a:srgbClr val="012834"/>
          </a:solidFill>
          <a:ln w="12700">
            <a:solidFill>
              <a:srgbClr val="012834"/>
            </a:solidFill>
            <a:prstDash val="solid"/>
          </a:ln>
        </p:spPr>
      </p:sp>
      <p:sp>
        <p:nvSpPr>
          <p:cNvPr id="5" name="Text 3"/>
          <p:cNvSpPr/>
          <p:nvPr/>
        </p:nvSpPr>
        <p:spPr>
          <a:xfrm>
            <a:off x="11064240" y="6492240"/>
            <a:ext cx="640080" cy="274320"/>
          </a:xfrm>
          <a:prstGeom prst="rect">
            <a:avLst/>
          </a:prstGeom>
          <a:noFill/>
          <a:ln/>
        </p:spPr>
        <p:txBody>
          <a:bodyPr wrap="square" rtlCol="0" anchor="ctr"/>
          <a:lstStyle/>
          <a:p>
            <a:pPr algn="r" indent="0" marL="0">
              <a:buNone/>
            </a:pPr>
            <a:r>
              <a:rPr lang="en-US" sz="900" dirty="0">
                <a:solidFill>
                  <a:srgbClr val="5A6068"/>
                </a:solidFill>
                <a:latin typeface="Calibri" pitchFamily="34" charset="0"/>
                <a:ea typeface="Calibri" pitchFamily="34" charset="-122"/>
                <a:cs typeface="Calibri" pitchFamily="34" charset="-120"/>
              </a:rPr>
              <a:t>11 / 12</a:t>
            </a:r>
            <a:endParaRPr lang="en-US" sz="900" dirty="0"/>
          </a:p>
        </p:txBody>
      </p:sp>
      <p:sp>
        <p:nvSpPr>
          <p:cNvPr id="6"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5A6068"/>
                </a:solidFill>
                <a:latin typeface="Calibri" pitchFamily="34" charset="0"/>
                <a:ea typeface="Calibri" pitchFamily="34" charset="-122"/>
                <a:cs typeface="Calibri" pitchFamily="34" charset="-120"/>
              </a:rPr>
              <a:t>FIS Global — Customer Trends in Banking and Payments</a:t>
            </a:r>
            <a:endParaRPr lang="en-US" sz="900" dirty="0"/>
          </a:p>
        </p:txBody>
      </p:sp>
      <p:sp>
        <p:nvSpPr>
          <p:cNvPr id="7" name="Text 5"/>
          <p:cNvSpPr/>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012834"/>
                </a:solidFill>
                <a:latin typeface="Calibri" pitchFamily="34" charset="0"/>
                <a:ea typeface="Calibri" pitchFamily="34" charset="-122"/>
                <a:cs typeface="Calibri" pitchFamily="34" charset="-120"/>
              </a:rPr>
              <a:t>Delivery and evolution</a:t>
            </a:r>
            <a:endParaRPr lang="en-US" sz="3000" dirty="0"/>
          </a:p>
        </p:txBody>
      </p:sp>
      <p:sp>
        <p:nvSpPr>
          <p:cNvPr id="8" name="Text 6"/>
          <p:cNvSpPr/>
          <p:nvPr/>
        </p:nvSpPr>
        <p:spPr>
          <a:xfrm>
            <a:off x="502920" y="1005840"/>
            <a:ext cx="111556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How the project actually ran</a:t>
            </a:r>
            <a:endParaRPr lang="en-US" sz="1300" dirty="0"/>
          </a:p>
        </p:txBody>
      </p:sp>
      <p:sp>
        <p:nvSpPr>
          <p:cNvPr id="9" name="Shape 7"/>
          <p:cNvSpPr/>
          <p:nvPr/>
        </p:nvSpPr>
        <p:spPr>
          <a:xfrm>
            <a:off x="502920" y="1691640"/>
            <a:ext cx="1579299" cy="777240"/>
          </a:xfrm>
          <a:prstGeom prst="rect">
            <a:avLst/>
          </a:prstGeom>
          <a:solidFill>
            <a:srgbClr val="012834"/>
          </a:solidFill>
          <a:ln w="12700">
            <a:solidFill>
              <a:srgbClr val="012834"/>
            </a:solidFill>
            <a:prstDash val="solid"/>
          </a:ln>
        </p:spPr>
      </p:sp>
      <p:sp>
        <p:nvSpPr>
          <p:cNvPr id="10" name="Text 8"/>
          <p:cNvSpPr/>
          <p:nvPr/>
        </p:nvSpPr>
        <p:spPr>
          <a:xfrm>
            <a:off x="548640" y="1737360"/>
            <a:ext cx="1487859"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Scope</a:t>
            </a:r>
            <a:endParaRPr lang="en-US" sz="1200" dirty="0"/>
          </a:p>
        </p:txBody>
      </p:sp>
      <p:sp>
        <p:nvSpPr>
          <p:cNvPr id="11" name="Text 9"/>
          <p:cNvSpPr/>
          <p:nvPr/>
        </p:nvSpPr>
        <p:spPr>
          <a:xfrm>
            <a:off x="548640" y="2103120"/>
            <a:ext cx="1487859" cy="3200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Feb 16–Mar 1</a:t>
            </a:r>
            <a:endParaRPr lang="en-US" sz="900" dirty="0"/>
          </a:p>
        </p:txBody>
      </p:sp>
      <p:sp>
        <p:nvSpPr>
          <p:cNvPr id="12" name="Shape 10"/>
          <p:cNvSpPr/>
          <p:nvPr/>
        </p:nvSpPr>
        <p:spPr>
          <a:xfrm>
            <a:off x="2109651" y="1691640"/>
            <a:ext cx="1579299" cy="777240"/>
          </a:xfrm>
          <a:prstGeom prst="rect">
            <a:avLst/>
          </a:prstGeom>
          <a:solidFill>
            <a:srgbClr val="4BCD3E"/>
          </a:solidFill>
          <a:ln w="12700">
            <a:solidFill>
              <a:srgbClr val="4BCD3E"/>
            </a:solidFill>
            <a:prstDash val="solid"/>
          </a:ln>
        </p:spPr>
      </p:sp>
      <p:sp>
        <p:nvSpPr>
          <p:cNvPr id="13" name="Text 11"/>
          <p:cNvSpPr/>
          <p:nvPr/>
        </p:nvSpPr>
        <p:spPr>
          <a:xfrm>
            <a:off x="2155371" y="1737360"/>
            <a:ext cx="1487859" cy="365760"/>
          </a:xfrm>
          <a:prstGeom prst="rect">
            <a:avLst/>
          </a:prstGeom>
          <a:noFill/>
          <a:ln/>
        </p:spPr>
        <p:txBody>
          <a:bodyPr wrap="square" lIns="0" tIns="0" rIns="0" bIns="0" rtlCol="0" anchor="ctr"/>
          <a:lstStyle/>
          <a:p>
            <a:pPr algn="ctr" indent="0" marL="0">
              <a:buNone/>
            </a:pPr>
            <a:r>
              <a:rPr lang="en-US" sz="1200" b="1" dirty="0">
                <a:solidFill>
                  <a:srgbClr val="012834"/>
                </a:solidFill>
                <a:latin typeface="Calibri" pitchFamily="34" charset="0"/>
                <a:ea typeface="Calibri" pitchFamily="34" charset="-122"/>
                <a:cs typeface="Calibri" pitchFamily="34" charset="-120"/>
              </a:rPr>
              <a:t>2. Data</a:t>
            </a:r>
            <a:endParaRPr lang="en-US" sz="1200" dirty="0"/>
          </a:p>
        </p:txBody>
      </p:sp>
      <p:sp>
        <p:nvSpPr>
          <p:cNvPr id="14" name="Text 12"/>
          <p:cNvSpPr/>
          <p:nvPr/>
        </p:nvSpPr>
        <p:spPr>
          <a:xfrm>
            <a:off x="2155371" y="2103120"/>
            <a:ext cx="1487859" cy="320040"/>
          </a:xfrm>
          <a:prstGeom prst="rect">
            <a:avLst/>
          </a:prstGeom>
          <a:noFill/>
          <a:ln/>
        </p:spPr>
        <p:txBody>
          <a:bodyPr wrap="square" lIns="0" tIns="0" rIns="0" bIns="0" rtlCol="0" anchor="ctr"/>
          <a:lstStyle/>
          <a:p>
            <a:pPr algn="ctr" indent="0" marL="0">
              <a:buNone/>
            </a:pPr>
            <a:r>
              <a:rPr lang="en-US" sz="900" dirty="0">
                <a:solidFill>
                  <a:srgbClr val="012834"/>
                </a:solidFill>
                <a:latin typeface="Calibri" pitchFamily="34" charset="0"/>
                <a:ea typeface="Calibri" pitchFamily="34" charset="-122"/>
                <a:cs typeface="Calibri" pitchFamily="34" charset="-120"/>
              </a:rPr>
              <a:t>Mar 2–Mar 19</a:t>
            </a:r>
            <a:endParaRPr lang="en-US" sz="900" dirty="0"/>
          </a:p>
        </p:txBody>
      </p:sp>
      <p:sp>
        <p:nvSpPr>
          <p:cNvPr id="15" name="Shape 13"/>
          <p:cNvSpPr/>
          <p:nvPr/>
        </p:nvSpPr>
        <p:spPr>
          <a:xfrm>
            <a:off x="3716383" y="1691640"/>
            <a:ext cx="1579299" cy="777240"/>
          </a:xfrm>
          <a:prstGeom prst="rect">
            <a:avLst/>
          </a:prstGeom>
          <a:solidFill>
            <a:srgbClr val="012834"/>
          </a:solidFill>
          <a:ln w="12700">
            <a:solidFill>
              <a:srgbClr val="012834"/>
            </a:solidFill>
            <a:prstDash val="solid"/>
          </a:ln>
        </p:spPr>
      </p:sp>
      <p:sp>
        <p:nvSpPr>
          <p:cNvPr id="16" name="Text 14"/>
          <p:cNvSpPr/>
          <p:nvPr/>
        </p:nvSpPr>
        <p:spPr>
          <a:xfrm>
            <a:off x="3762103" y="1737360"/>
            <a:ext cx="1487859"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Architecture</a:t>
            </a:r>
            <a:endParaRPr lang="en-US" sz="1200" dirty="0"/>
          </a:p>
        </p:txBody>
      </p:sp>
      <p:sp>
        <p:nvSpPr>
          <p:cNvPr id="17" name="Text 15"/>
          <p:cNvSpPr/>
          <p:nvPr/>
        </p:nvSpPr>
        <p:spPr>
          <a:xfrm>
            <a:off x="3762103" y="2103120"/>
            <a:ext cx="1487859" cy="3200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Mar 20–Mar 29</a:t>
            </a:r>
            <a:endParaRPr lang="en-US" sz="900" dirty="0"/>
          </a:p>
        </p:txBody>
      </p:sp>
      <p:sp>
        <p:nvSpPr>
          <p:cNvPr id="18" name="Shape 16"/>
          <p:cNvSpPr/>
          <p:nvPr/>
        </p:nvSpPr>
        <p:spPr>
          <a:xfrm>
            <a:off x="5323114" y="1691640"/>
            <a:ext cx="1579299" cy="777240"/>
          </a:xfrm>
          <a:prstGeom prst="rect">
            <a:avLst/>
          </a:prstGeom>
          <a:solidFill>
            <a:srgbClr val="4BCD3E"/>
          </a:solidFill>
          <a:ln w="12700">
            <a:solidFill>
              <a:srgbClr val="4BCD3E"/>
            </a:solidFill>
            <a:prstDash val="solid"/>
          </a:ln>
        </p:spPr>
      </p:sp>
      <p:sp>
        <p:nvSpPr>
          <p:cNvPr id="19" name="Text 17"/>
          <p:cNvSpPr/>
          <p:nvPr/>
        </p:nvSpPr>
        <p:spPr>
          <a:xfrm>
            <a:off x="5368834" y="1737360"/>
            <a:ext cx="1487859" cy="365760"/>
          </a:xfrm>
          <a:prstGeom prst="rect">
            <a:avLst/>
          </a:prstGeom>
          <a:noFill/>
          <a:ln/>
        </p:spPr>
        <p:txBody>
          <a:bodyPr wrap="square" lIns="0" tIns="0" rIns="0" bIns="0" rtlCol="0" anchor="ctr"/>
          <a:lstStyle/>
          <a:p>
            <a:pPr algn="ctr" indent="0" marL="0">
              <a:buNone/>
            </a:pPr>
            <a:r>
              <a:rPr lang="en-US" sz="1200" b="1" dirty="0">
                <a:solidFill>
                  <a:srgbClr val="012834"/>
                </a:solidFill>
                <a:latin typeface="Calibri" pitchFamily="34" charset="0"/>
                <a:ea typeface="Calibri" pitchFamily="34" charset="-122"/>
                <a:cs typeface="Calibri" pitchFamily="34" charset="-120"/>
              </a:rPr>
              <a:t>4. Preprocessing</a:t>
            </a:r>
            <a:endParaRPr lang="en-US" sz="1200" dirty="0"/>
          </a:p>
        </p:txBody>
      </p:sp>
      <p:sp>
        <p:nvSpPr>
          <p:cNvPr id="20" name="Text 18"/>
          <p:cNvSpPr/>
          <p:nvPr/>
        </p:nvSpPr>
        <p:spPr>
          <a:xfrm>
            <a:off x="5368834" y="2103120"/>
            <a:ext cx="1487859" cy="320040"/>
          </a:xfrm>
          <a:prstGeom prst="rect">
            <a:avLst/>
          </a:prstGeom>
          <a:noFill/>
          <a:ln/>
        </p:spPr>
        <p:txBody>
          <a:bodyPr wrap="square" lIns="0" tIns="0" rIns="0" bIns="0" rtlCol="0" anchor="ctr"/>
          <a:lstStyle/>
          <a:p>
            <a:pPr algn="ctr" indent="0" marL="0">
              <a:buNone/>
            </a:pPr>
            <a:r>
              <a:rPr lang="en-US" sz="900" dirty="0">
                <a:solidFill>
                  <a:srgbClr val="012834"/>
                </a:solidFill>
                <a:latin typeface="Calibri" pitchFamily="34" charset="0"/>
                <a:ea typeface="Calibri" pitchFamily="34" charset="-122"/>
                <a:cs typeface="Calibri" pitchFamily="34" charset="-120"/>
              </a:rPr>
              <a:t>Mar 30–Apr 12</a:t>
            </a:r>
            <a:endParaRPr lang="en-US" sz="900" dirty="0"/>
          </a:p>
        </p:txBody>
      </p:sp>
      <p:sp>
        <p:nvSpPr>
          <p:cNvPr id="21" name="Shape 19"/>
          <p:cNvSpPr/>
          <p:nvPr/>
        </p:nvSpPr>
        <p:spPr>
          <a:xfrm>
            <a:off x="6929846" y="1691640"/>
            <a:ext cx="1579299" cy="777240"/>
          </a:xfrm>
          <a:prstGeom prst="rect">
            <a:avLst/>
          </a:prstGeom>
          <a:solidFill>
            <a:srgbClr val="012834"/>
          </a:solidFill>
          <a:ln w="12700">
            <a:solidFill>
              <a:srgbClr val="012834"/>
            </a:solidFill>
            <a:prstDash val="solid"/>
          </a:ln>
        </p:spPr>
      </p:sp>
      <p:sp>
        <p:nvSpPr>
          <p:cNvPr id="22" name="Text 20"/>
          <p:cNvSpPr/>
          <p:nvPr/>
        </p:nvSpPr>
        <p:spPr>
          <a:xfrm>
            <a:off x="6975566" y="1737360"/>
            <a:ext cx="1487859"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Analysis</a:t>
            </a:r>
            <a:endParaRPr lang="en-US" sz="1200" dirty="0"/>
          </a:p>
        </p:txBody>
      </p:sp>
      <p:sp>
        <p:nvSpPr>
          <p:cNvPr id="23" name="Text 21"/>
          <p:cNvSpPr/>
          <p:nvPr/>
        </p:nvSpPr>
        <p:spPr>
          <a:xfrm>
            <a:off x="6975566" y="2103120"/>
            <a:ext cx="1487859" cy="3200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Apr 13–Apr 26</a:t>
            </a:r>
            <a:endParaRPr lang="en-US" sz="900" dirty="0"/>
          </a:p>
        </p:txBody>
      </p:sp>
      <p:sp>
        <p:nvSpPr>
          <p:cNvPr id="24" name="Shape 22"/>
          <p:cNvSpPr/>
          <p:nvPr/>
        </p:nvSpPr>
        <p:spPr>
          <a:xfrm>
            <a:off x="8536577" y="1691640"/>
            <a:ext cx="1579299" cy="777240"/>
          </a:xfrm>
          <a:prstGeom prst="rect">
            <a:avLst/>
          </a:prstGeom>
          <a:solidFill>
            <a:srgbClr val="4BCD3E"/>
          </a:solidFill>
          <a:ln w="12700">
            <a:solidFill>
              <a:srgbClr val="4BCD3E"/>
            </a:solidFill>
            <a:prstDash val="solid"/>
          </a:ln>
        </p:spPr>
      </p:sp>
      <p:sp>
        <p:nvSpPr>
          <p:cNvPr id="25" name="Text 23"/>
          <p:cNvSpPr/>
          <p:nvPr/>
        </p:nvSpPr>
        <p:spPr>
          <a:xfrm>
            <a:off x="8582297" y="1737360"/>
            <a:ext cx="1487859" cy="365760"/>
          </a:xfrm>
          <a:prstGeom prst="rect">
            <a:avLst/>
          </a:prstGeom>
          <a:noFill/>
          <a:ln/>
        </p:spPr>
        <p:txBody>
          <a:bodyPr wrap="square" lIns="0" tIns="0" rIns="0" bIns="0" rtlCol="0" anchor="ctr"/>
          <a:lstStyle/>
          <a:p>
            <a:pPr algn="ctr" indent="0" marL="0">
              <a:buNone/>
            </a:pPr>
            <a:r>
              <a:rPr lang="en-US" sz="1200" b="1" dirty="0">
                <a:solidFill>
                  <a:srgbClr val="012834"/>
                </a:solidFill>
                <a:latin typeface="Calibri" pitchFamily="34" charset="0"/>
                <a:ea typeface="Calibri" pitchFamily="34" charset="-122"/>
                <a:cs typeface="Calibri" pitchFamily="34" charset="-120"/>
              </a:rPr>
              <a:t>6. Modelling</a:t>
            </a:r>
            <a:endParaRPr lang="en-US" sz="1200" dirty="0"/>
          </a:p>
        </p:txBody>
      </p:sp>
      <p:sp>
        <p:nvSpPr>
          <p:cNvPr id="26" name="Text 24"/>
          <p:cNvSpPr/>
          <p:nvPr/>
        </p:nvSpPr>
        <p:spPr>
          <a:xfrm>
            <a:off x="8582297" y="2103120"/>
            <a:ext cx="1487859" cy="320040"/>
          </a:xfrm>
          <a:prstGeom prst="rect">
            <a:avLst/>
          </a:prstGeom>
          <a:noFill/>
          <a:ln/>
        </p:spPr>
        <p:txBody>
          <a:bodyPr wrap="square" lIns="0" tIns="0" rIns="0" bIns="0" rtlCol="0" anchor="ctr"/>
          <a:lstStyle/>
          <a:p>
            <a:pPr algn="ctr" indent="0" marL="0">
              <a:buNone/>
            </a:pPr>
            <a:r>
              <a:rPr lang="en-US" sz="900" dirty="0">
                <a:solidFill>
                  <a:srgbClr val="012834"/>
                </a:solidFill>
                <a:latin typeface="Calibri" pitchFamily="34" charset="0"/>
                <a:ea typeface="Calibri" pitchFamily="34" charset="-122"/>
                <a:cs typeface="Calibri" pitchFamily="34" charset="-120"/>
              </a:rPr>
              <a:t>Apr 27–May 3</a:t>
            </a:r>
            <a:endParaRPr lang="en-US" sz="900" dirty="0"/>
          </a:p>
        </p:txBody>
      </p:sp>
      <p:sp>
        <p:nvSpPr>
          <p:cNvPr id="27" name="Shape 25"/>
          <p:cNvSpPr/>
          <p:nvPr/>
        </p:nvSpPr>
        <p:spPr>
          <a:xfrm>
            <a:off x="10143309" y="1691640"/>
            <a:ext cx="1579299" cy="777240"/>
          </a:xfrm>
          <a:prstGeom prst="rect">
            <a:avLst/>
          </a:prstGeom>
          <a:solidFill>
            <a:srgbClr val="012834"/>
          </a:solidFill>
          <a:ln w="12700">
            <a:solidFill>
              <a:srgbClr val="012834"/>
            </a:solidFill>
            <a:prstDash val="solid"/>
          </a:ln>
        </p:spPr>
      </p:sp>
      <p:sp>
        <p:nvSpPr>
          <p:cNvPr id="28" name="Text 26"/>
          <p:cNvSpPr/>
          <p:nvPr/>
        </p:nvSpPr>
        <p:spPr>
          <a:xfrm>
            <a:off x="10189029" y="1737360"/>
            <a:ext cx="1487859"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 Submission</a:t>
            </a:r>
            <a:endParaRPr lang="en-US" sz="1200" dirty="0"/>
          </a:p>
        </p:txBody>
      </p:sp>
      <p:sp>
        <p:nvSpPr>
          <p:cNvPr id="29" name="Text 27"/>
          <p:cNvSpPr/>
          <p:nvPr/>
        </p:nvSpPr>
        <p:spPr>
          <a:xfrm>
            <a:off x="10189029" y="2103120"/>
            <a:ext cx="1487859" cy="3200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May 4–May 18</a:t>
            </a:r>
            <a:endParaRPr lang="en-US" sz="900" dirty="0"/>
          </a:p>
        </p:txBody>
      </p:sp>
      <p:sp>
        <p:nvSpPr>
          <p:cNvPr id="30" name="Shape 28"/>
          <p:cNvSpPr/>
          <p:nvPr/>
        </p:nvSpPr>
        <p:spPr>
          <a:xfrm>
            <a:off x="502920" y="3017520"/>
            <a:ext cx="3703320" cy="457200"/>
          </a:xfrm>
          <a:prstGeom prst="rect">
            <a:avLst/>
          </a:prstGeom>
          <a:solidFill>
            <a:srgbClr val="012834"/>
          </a:solidFill>
          <a:ln w="12700">
            <a:solidFill>
              <a:srgbClr val="012834"/>
            </a:solidFill>
            <a:prstDash val="solid"/>
          </a:ln>
        </p:spPr>
      </p:sp>
      <p:sp>
        <p:nvSpPr>
          <p:cNvPr id="31" name="Text 29"/>
          <p:cNvSpPr/>
          <p:nvPr/>
        </p:nvSpPr>
        <p:spPr>
          <a:xfrm>
            <a:off x="731520" y="3017520"/>
            <a:ext cx="3246120" cy="457200"/>
          </a:xfrm>
          <a:prstGeom prst="rect">
            <a:avLst/>
          </a:prstGeom>
          <a:noFill/>
          <a:ln/>
        </p:spPr>
        <p:txBody>
          <a:bodyPr wrap="square" lIns="0" tIns="0" rIns="0" bIns="0" rtlCol="0" anchor="ctr"/>
          <a:lstStyle/>
          <a:p>
            <a:pPr indent="0" marL="0">
              <a:buNone/>
            </a:pPr>
            <a:r>
              <a:rPr lang="en-US" sz="1400" b="1" dirty="0">
                <a:solidFill>
                  <a:srgbClr val="4BCD3E"/>
                </a:solidFill>
                <a:latin typeface="Calibri" pitchFamily="34" charset="0"/>
                <a:ea typeface="Calibri" pitchFamily="34" charset="-122"/>
                <a:cs typeface="Calibri" pitchFamily="34" charset="-120"/>
              </a:rPr>
              <a:t>Industry engagement</a:t>
            </a:r>
            <a:endParaRPr lang="en-US" sz="1400" dirty="0"/>
          </a:p>
        </p:txBody>
      </p:sp>
      <p:sp>
        <p:nvSpPr>
          <p:cNvPr id="32" name="Text 30"/>
          <p:cNvSpPr/>
          <p:nvPr/>
        </p:nvSpPr>
        <p:spPr>
          <a:xfrm>
            <a:off x="548640" y="3520440"/>
            <a:ext cx="3611880" cy="26974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Feb 20: scoping with Andrew Thompson, Jeffrey Saul &amp; Jay Desai</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Mar 7: dataset findings discussion</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Apr 20: mid-project modelling review</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May 8: refined datasets shared with FIS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Continuous feedback channel via supervisor</a:t>
            </a:r>
            <a:endParaRPr lang="en-US" sz="1050" dirty="0"/>
          </a:p>
        </p:txBody>
      </p:sp>
      <p:sp>
        <p:nvSpPr>
          <p:cNvPr id="33" name="Shape 31"/>
          <p:cNvSpPr/>
          <p:nvPr/>
        </p:nvSpPr>
        <p:spPr>
          <a:xfrm>
            <a:off x="4370832" y="3017520"/>
            <a:ext cx="3703320" cy="457200"/>
          </a:xfrm>
          <a:prstGeom prst="rect">
            <a:avLst/>
          </a:prstGeom>
          <a:solidFill>
            <a:srgbClr val="012834"/>
          </a:solidFill>
          <a:ln w="12700">
            <a:solidFill>
              <a:srgbClr val="012834"/>
            </a:solidFill>
            <a:prstDash val="solid"/>
          </a:ln>
        </p:spPr>
      </p:sp>
      <p:sp>
        <p:nvSpPr>
          <p:cNvPr id="34" name="Text 32"/>
          <p:cNvSpPr/>
          <p:nvPr/>
        </p:nvSpPr>
        <p:spPr>
          <a:xfrm>
            <a:off x="4599432" y="3017520"/>
            <a:ext cx="3246120" cy="457200"/>
          </a:xfrm>
          <a:prstGeom prst="rect">
            <a:avLst/>
          </a:prstGeom>
          <a:noFill/>
          <a:ln/>
        </p:spPr>
        <p:txBody>
          <a:bodyPr wrap="square" lIns="0" tIns="0" rIns="0" bIns="0" rtlCol="0" anchor="ctr"/>
          <a:lstStyle/>
          <a:p>
            <a:pPr indent="0" marL="0">
              <a:buNone/>
            </a:pPr>
            <a:r>
              <a:rPr lang="en-US" sz="1400" b="1" dirty="0">
                <a:solidFill>
                  <a:srgbClr val="4BCD3E"/>
                </a:solidFill>
                <a:latin typeface="Calibri" pitchFamily="34" charset="0"/>
                <a:ea typeface="Calibri" pitchFamily="34" charset="-122"/>
                <a:cs typeface="Calibri" pitchFamily="34" charset="-120"/>
              </a:rPr>
              <a:t>Project management</a:t>
            </a:r>
            <a:endParaRPr lang="en-US" sz="1400" dirty="0"/>
          </a:p>
        </p:txBody>
      </p:sp>
      <p:sp>
        <p:nvSpPr>
          <p:cNvPr id="35" name="Text 33"/>
          <p:cNvSpPr/>
          <p:nvPr/>
        </p:nvSpPr>
        <p:spPr>
          <a:xfrm>
            <a:off x="4416552" y="3520440"/>
            <a:ext cx="3611880" cy="26974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Sprint structure with weekly milestones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Async work + scheduled Google Meet syncs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In-person integration workshop, Apr 28</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Git-versioned codebase for reproducibility</a:t>
            </a:r>
            <a:endParaRPr lang="en-US" sz="1050" dirty="0"/>
          </a:p>
        </p:txBody>
      </p:sp>
      <p:sp>
        <p:nvSpPr>
          <p:cNvPr id="36" name="Shape 34"/>
          <p:cNvSpPr/>
          <p:nvPr/>
        </p:nvSpPr>
        <p:spPr>
          <a:xfrm>
            <a:off x="8238744" y="3017520"/>
            <a:ext cx="3703320" cy="457200"/>
          </a:xfrm>
          <a:prstGeom prst="rect">
            <a:avLst/>
          </a:prstGeom>
          <a:solidFill>
            <a:srgbClr val="012834"/>
          </a:solidFill>
          <a:ln w="12700">
            <a:solidFill>
              <a:srgbClr val="012834"/>
            </a:solidFill>
            <a:prstDash val="solid"/>
          </a:ln>
        </p:spPr>
      </p:sp>
      <p:sp>
        <p:nvSpPr>
          <p:cNvPr id="37" name="Text 35"/>
          <p:cNvSpPr/>
          <p:nvPr/>
        </p:nvSpPr>
        <p:spPr>
          <a:xfrm>
            <a:off x="8467344" y="3017520"/>
            <a:ext cx="3246120" cy="457200"/>
          </a:xfrm>
          <a:prstGeom prst="rect">
            <a:avLst/>
          </a:prstGeom>
          <a:noFill/>
          <a:ln/>
        </p:spPr>
        <p:txBody>
          <a:bodyPr wrap="square" lIns="0" tIns="0" rIns="0" bIns="0" rtlCol="0" anchor="ctr"/>
          <a:lstStyle/>
          <a:p>
            <a:pPr indent="0" marL="0">
              <a:buNone/>
            </a:pPr>
            <a:r>
              <a:rPr lang="en-US" sz="1400" b="1" dirty="0">
                <a:solidFill>
                  <a:srgbClr val="4BCD3E"/>
                </a:solidFill>
                <a:latin typeface="Calibri" pitchFamily="34" charset="0"/>
                <a:ea typeface="Calibri" pitchFamily="34" charset="-122"/>
                <a:cs typeface="Calibri" pitchFamily="34" charset="-120"/>
              </a:rPr>
              <a:t>Critical reflection</a:t>
            </a:r>
            <a:endParaRPr lang="en-US" sz="1400" dirty="0"/>
          </a:p>
        </p:txBody>
      </p:sp>
      <p:sp>
        <p:nvSpPr>
          <p:cNvPr id="38" name="Text 36"/>
          <p:cNvSpPr/>
          <p:nvPr/>
        </p:nvSpPr>
        <p:spPr>
          <a:xfrm>
            <a:off x="8284464" y="3520440"/>
            <a:ext cx="3611880" cy="26974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Initial scope reduced from 10 to 8 datasets after mentor review</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ARIMA dropped early — too few clean observations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Switched to interpretable functional forms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Sensitivity testing added in response to FIS brief</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12834"/>
        </a:solidFill>
      </p:bgPr>
    </p:bg>
    <p:spTree>
      <p:nvGrpSpPr>
        <p:cNvPr id="1" name=""/>
        <p:cNvGrpSpPr/>
        <p:nvPr/>
      </p:nvGrpSpPr>
      <p:grpSpPr>
        <a:xfrm>
          <a:off x="0" y="0"/>
          <a:ext cx="0" cy="0"/>
          <a:chOff x="0" y="0"/>
          <a:chExt cx="0" cy="0"/>
        </a:xfrm>
      </p:grpSpPr>
      <p:sp>
        <p:nvSpPr>
          <p:cNvPr id="2" name="Shape 0"/>
          <p:cNvSpPr/>
          <p:nvPr/>
        </p:nvSpPr>
        <p:spPr>
          <a:xfrm>
            <a:off x="548640" y="1600200"/>
            <a:ext cx="1371600" cy="91440"/>
          </a:xfrm>
          <a:prstGeom prst="rect">
            <a:avLst/>
          </a:prstGeom>
          <a:solidFill>
            <a:srgbClr val="4BCD3E"/>
          </a:solidFill>
          <a:ln w="12700">
            <a:solidFill>
              <a:srgbClr val="4BCD3E"/>
            </a:solidFill>
            <a:prstDash val="solid"/>
          </a:ln>
        </p:spPr>
      </p:sp>
      <p:sp>
        <p:nvSpPr>
          <p:cNvPr id="3" name="Text 1"/>
          <p:cNvSpPr/>
          <p:nvPr/>
        </p:nvSpPr>
        <p:spPr>
          <a:xfrm>
            <a:off x="548640" y="1783080"/>
            <a:ext cx="10972800"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Three numbers to take away</a:t>
            </a:r>
            <a:endParaRPr lang="en-US" sz="2400" dirty="0"/>
          </a:p>
        </p:txBody>
      </p:sp>
      <p:sp>
        <p:nvSpPr>
          <p:cNvPr id="4" name="Text 2"/>
          <p:cNvSpPr/>
          <p:nvPr/>
        </p:nvSpPr>
        <p:spPr>
          <a:xfrm>
            <a:off x="548640" y="2651760"/>
            <a:ext cx="3657600" cy="1554480"/>
          </a:xfrm>
          <a:prstGeom prst="rect">
            <a:avLst/>
          </a:prstGeom>
          <a:noFill/>
          <a:ln/>
        </p:spPr>
        <p:txBody>
          <a:bodyPr wrap="square" lIns="0" tIns="0" rIns="0" bIns="0" rtlCol="0" anchor="ctr"/>
          <a:lstStyle/>
          <a:p>
            <a:pPr indent="0" marL="0">
              <a:buNone/>
            </a:pPr>
            <a:r>
              <a:rPr lang="en-US" sz="8800" b="1" dirty="0">
                <a:solidFill>
                  <a:srgbClr val="4BCD3E"/>
                </a:solidFill>
                <a:latin typeface="Calibri" pitchFamily="34" charset="0"/>
                <a:ea typeface="Calibri" pitchFamily="34" charset="-122"/>
                <a:cs typeface="Calibri" pitchFamily="34" charset="-120"/>
              </a:rPr>
              <a:t>70%</a:t>
            </a:r>
            <a:endParaRPr lang="en-US" sz="8800" dirty="0"/>
          </a:p>
        </p:txBody>
      </p:sp>
      <p:sp>
        <p:nvSpPr>
          <p:cNvPr id="5" name="Text 3"/>
          <p:cNvSpPr/>
          <p:nvPr/>
        </p:nvSpPr>
        <p:spPr>
          <a:xfrm>
            <a:off x="548640" y="4297680"/>
            <a:ext cx="3657600"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drop in physical branches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since 2000</a:t>
            </a:r>
            <a:endParaRPr lang="en-US" sz="1300" dirty="0"/>
          </a:p>
        </p:txBody>
      </p:sp>
      <p:sp>
        <p:nvSpPr>
          <p:cNvPr id="6" name="Text 4"/>
          <p:cNvSpPr/>
          <p:nvPr/>
        </p:nvSpPr>
        <p:spPr>
          <a:xfrm>
            <a:off x="4480560" y="2651760"/>
            <a:ext cx="3657600" cy="1554480"/>
          </a:xfrm>
          <a:prstGeom prst="rect">
            <a:avLst/>
          </a:prstGeom>
          <a:noFill/>
          <a:ln/>
        </p:spPr>
        <p:txBody>
          <a:bodyPr wrap="square" lIns="0" tIns="0" rIns="0" bIns="0" rtlCol="0" anchor="ctr"/>
          <a:lstStyle/>
          <a:p>
            <a:pPr indent="0" marL="0">
              <a:buNone/>
            </a:pPr>
            <a:r>
              <a:rPr lang="en-US" sz="8800" b="1" dirty="0">
                <a:solidFill>
                  <a:srgbClr val="4BCD3E"/>
                </a:solidFill>
                <a:latin typeface="Calibri" pitchFamily="34" charset="0"/>
                <a:ea typeface="Calibri" pitchFamily="34" charset="-122"/>
                <a:cs typeface="Calibri" pitchFamily="34" charset="-120"/>
              </a:rPr>
              <a:t>2.6 bn</a:t>
            </a:r>
            <a:endParaRPr lang="en-US" sz="8800" dirty="0"/>
          </a:p>
        </p:txBody>
      </p:sp>
      <p:sp>
        <p:nvSpPr>
          <p:cNvPr id="7" name="Text 5"/>
          <p:cNvSpPr/>
          <p:nvPr/>
        </p:nvSpPr>
        <p:spPr>
          <a:xfrm>
            <a:off x="4480560" y="4297680"/>
            <a:ext cx="3657600"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cash transactions per year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by 2034 (Base)</a:t>
            </a:r>
            <a:endParaRPr lang="en-US" sz="1300" dirty="0"/>
          </a:p>
        </p:txBody>
      </p:sp>
      <p:sp>
        <p:nvSpPr>
          <p:cNvPr id="8" name="Text 6"/>
          <p:cNvSpPr/>
          <p:nvPr/>
        </p:nvSpPr>
        <p:spPr>
          <a:xfrm>
            <a:off x="8412480" y="2651760"/>
            <a:ext cx="3657600" cy="1554480"/>
          </a:xfrm>
          <a:prstGeom prst="rect">
            <a:avLst/>
          </a:prstGeom>
          <a:noFill/>
          <a:ln/>
        </p:spPr>
        <p:txBody>
          <a:bodyPr wrap="square" lIns="0" tIns="0" rIns="0" bIns="0" rtlCol="0" anchor="ctr"/>
          <a:lstStyle/>
          <a:p>
            <a:pPr indent="0" marL="0">
              <a:buNone/>
            </a:pPr>
            <a:r>
              <a:rPr lang="en-US" sz="8800" b="1" dirty="0">
                <a:solidFill>
                  <a:srgbClr val="4BCD3E"/>
                </a:solidFill>
                <a:latin typeface="Calibri" pitchFamily="34" charset="0"/>
                <a:ea typeface="Calibri" pitchFamily="34" charset="-122"/>
                <a:cs typeface="Calibri" pitchFamily="34" charset="-120"/>
              </a:rPr>
              <a:t>49%</a:t>
            </a:r>
            <a:endParaRPr lang="en-US" sz="8800" dirty="0"/>
          </a:p>
        </p:txBody>
      </p:sp>
      <p:sp>
        <p:nvSpPr>
          <p:cNvPr id="9" name="Text 7"/>
          <p:cNvSpPr/>
          <p:nvPr/>
        </p:nvSpPr>
        <p:spPr>
          <a:xfrm>
            <a:off x="8412480" y="4297680"/>
            <a:ext cx="3657600"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neobank share of primary</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current accounts by 2034</a:t>
            </a:r>
            <a:endParaRPr lang="en-US" sz="1300" dirty="0"/>
          </a:p>
        </p:txBody>
      </p:sp>
      <p:sp>
        <p:nvSpPr>
          <p:cNvPr id="10" name="Shape 8"/>
          <p:cNvSpPr/>
          <p:nvPr/>
        </p:nvSpPr>
        <p:spPr>
          <a:xfrm>
            <a:off x="548640" y="5760720"/>
            <a:ext cx="11064240" cy="0"/>
          </a:xfrm>
          <a:prstGeom prst="line">
            <a:avLst/>
          </a:prstGeom>
          <a:noFill/>
          <a:ln w="9525">
            <a:solidFill>
              <a:srgbClr val="4BCD3E"/>
            </a:solidFill>
            <a:prstDash val="solid"/>
          </a:ln>
        </p:spPr>
      </p:sp>
      <p:sp>
        <p:nvSpPr>
          <p:cNvPr id="11" name="Text 9"/>
          <p:cNvSpPr/>
          <p:nvPr/>
        </p:nvSpPr>
        <p:spPr>
          <a:xfrm>
            <a:off x="548640" y="5943600"/>
            <a:ext cx="11064240" cy="365760"/>
          </a:xfrm>
          <a:prstGeom prst="rect">
            <a:avLst/>
          </a:prstGeom>
          <a:noFill/>
          <a:ln/>
        </p:spPr>
        <p:txBody>
          <a:bodyPr wrap="square" lIns="0" tIns="0" rIns="0" bIns="0" rtlCol="0" anchor="ctr"/>
          <a:lstStyle/>
          <a:p>
            <a:pPr indent="0" marL="0">
              <a:buNone/>
            </a:pPr>
            <a:r>
              <a:rPr lang="en-US" sz="1200" dirty="0">
                <a:solidFill>
                  <a:srgbClr val="B8C5C9"/>
                </a:solidFill>
                <a:latin typeface="Calibri" pitchFamily="34" charset="0"/>
                <a:ea typeface="Calibri" pitchFamily="34" charset="-122"/>
                <a:cs typeface="Calibri" pitchFamily="34" charset="-120"/>
              </a:rPr>
              <a:t>Code &amp; data: </a:t>
            </a:r>
            <a:pPr indent="0" marL="0">
              <a:buNone/>
            </a:pPr>
            <a:r>
              <a:rPr lang="en-US" sz="1200" b="1" dirty="0">
                <a:solidFill>
                  <a:srgbClr val="4BCD3E"/>
                </a:solidFill>
                <a:latin typeface="Calibri" pitchFamily="34" charset="0"/>
                <a:ea typeface="Calibri" pitchFamily="34" charset="-122"/>
                <a:cs typeface="Calibri" pitchFamily="34" charset="-120"/>
              </a:rPr>
              <a:t>github.com/tobyjl/fis_global_report </a:t>
            </a:r>
            <a:pPr indent="0" marL="0">
              <a:buNone/>
            </a:pPr>
            <a:r>
              <a:rPr lang="en-US" sz="1200" dirty="0">
                <a:solidFill>
                  <a:srgbClr val="B8C5C9"/>
                </a:solidFill>
                <a:latin typeface="Calibri" pitchFamily="34" charset="0"/>
                <a:ea typeface="Calibri" pitchFamily="34" charset="-122"/>
                <a:cs typeface="Calibri" pitchFamily="34" charset="-120"/>
              </a:rPr>
              <a:t>(private — access on request).</a:t>
            </a:r>
            <a:endParaRPr lang="en-US" sz="1200" dirty="0"/>
          </a:p>
        </p:txBody>
      </p:sp>
      <p:sp>
        <p:nvSpPr>
          <p:cNvPr id="12" name="Text 10"/>
          <p:cNvSpPr/>
          <p:nvPr/>
        </p:nvSpPr>
        <p:spPr>
          <a:xfrm>
            <a:off x="548640" y="6309360"/>
            <a:ext cx="11064240" cy="36576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Trends in Banking and Payments</dc:title>
  <dc:subject>PptxGenJS Presentation</dc:subject>
  <dc:creator>Toby Lowe</dc:creator>
  <cp:lastModifiedBy>Toby Lowe</cp:lastModifiedBy>
  <cp:revision>1</cp:revision>
  <dcterms:created xsi:type="dcterms:W3CDTF">2026-05-16T21:40:11Z</dcterms:created>
  <dcterms:modified xsi:type="dcterms:W3CDTF">2026-05-16T21:40:11Z</dcterms:modified>
</cp:coreProperties>
</file>